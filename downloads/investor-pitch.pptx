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12"/>
    <p:sldId id="259" r:id="rId5"/>
    <p:sldId id="262" r:id="rId13"/>
    <p:sldId id="263" r:id="rId14"/>
    <p:sldId id="264" r:id="rId1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06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הסטארטאפ שלכם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משפט אחד שמסביר מה אתם עושים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תבנית פיץ' למשקיעים — ניתנת להתאמה מלאה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548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309360" y="11887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תארו כאן בקצרה את הבעיה המשמעותית שהשוק חווה כיום — למה היא כואבת, ולמי.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26480" y="0"/>
            <a:ext cx="9144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תארו כאן איך המוצר שלכם פותר את הבעיה הזו בצורה ייחודית וטובה יותר מהחלופות הקיימות.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 השוק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014716" y="237744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014716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$5B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014716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השוק הכולל (TAM)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39996" y="237744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39996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$800M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39996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השוק הזמין (SAM)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5276" y="237744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$60M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65276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נתח השוק היעד (SOM)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התקדמות עד כה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0956" y="20116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EEE6F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836" y="23774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0956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10,000+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90956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משתמשים רשומים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48556" y="20116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EEE6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36" y="23774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48556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35%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448556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צמיחה חודשית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106156" y="20116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EEE6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036" y="237744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06156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₪1.2M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8106156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הכנסות שנתיות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מגייסים סבב Seed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גיוס של $1.5M להאצת הצמיחה ולהרחבת הצוות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3308" y="3657600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3143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founders@yourstartup.co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עסקי: איך אנחנו מרוויחים</a:t>
            </a:r>
            <a:endParaRPr lang="en-US" sz="3200" dirty="0"/>
          </a:p>
        </p:txBody>
      </p:sp>
      <p:sp>
        <p:nvSpPr>
          <p:cNvPr id="14" name="Shape 7"/>
          <p:cNvSpPr/>
          <p:nvPr/>
        </p:nvSpPr>
        <p:spPr>
          <a:xfrm>
            <a:off x="8106156" y="20116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EEE6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377440"/>
            <a:ext cx="640080" cy="6400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106156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₪99</a:t>
            </a:r>
            <a:endParaRPr lang="en-US" sz="2600" dirty="0"/>
          </a:p>
        </p:txBody>
      </p:sp>
      <p:sp>
        <p:nvSpPr>
          <p:cNvPr id="17" name="Text 9"/>
          <p:cNvSpPr/>
          <p:nvPr/>
        </p:nvSpPr>
        <p:spPr>
          <a:xfrm>
            <a:off x="8106156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מנוי חודשי לעסק</a:t>
            </a:r>
            <a:endParaRPr lang="en-US" sz="1300" dirty="0"/>
          </a:p>
        </p:txBody>
      </p:sp>
      <p:sp>
        <p:nvSpPr>
          <p:cNvPr id="18" name="Text 9"/>
          <p:cNvSpPr/>
          <p:nvPr/>
        </p:nvSpPr>
        <p:spPr>
          <a:xfrm>
            <a:off x="8106156" y="4389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מנוי SaaS, ללא התחייבות, עם חבילות לפי גודל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4448556" y="20116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EEE6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2377440"/>
            <a:ext cx="640080" cy="6400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48556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80%</a:t>
            </a:r>
            <a:endParaRPr lang="en-US" sz="2600" dirty="0"/>
          </a:p>
        </p:txBody>
      </p:sp>
      <p:sp>
        <p:nvSpPr>
          <p:cNvPr id="12" name="Text 6"/>
          <p:cNvSpPr/>
          <p:nvPr/>
        </p:nvSpPr>
        <p:spPr>
          <a:xfrm>
            <a:off x="4448556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רווח גולמי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4448556" y="4389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עלויות תפעול נמוכות לכל לקוח נוסף</a:t>
            </a:r>
            <a:endParaRPr lang="en-US" sz="1150" dirty="0"/>
          </a:p>
        </p:txBody>
      </p:sp>
      <p:sp>
        <p:nvSpPr>
          <p:cNvPr id="4" name="Shape 1"/>
          <p:cNvSpPr/>
          <p:nvPr/>
        </p:nvSpPr>
        <p:spPr>
          <a:xfrm>
            <a:off x="790956" y="20116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EEE6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36" y="2377440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0956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₪1,800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790956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ערך לקוח לאורך זמן (LTV)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790956" y="4389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לעומת עלות גיוס לקוח של כ-₪300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FB"/>
        </a:solidFill>
      </p:bgPr>
    </p:bg>
    <p:spTree>
      <p:nvGrpSpPr>
        <p:cNvPr id="2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תחרות: למה דווקא אנחנו</a:t>
            </a: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המתחרים העיקריים: מתחרה א', מתחרה ב' ופתרונות ידניים כמו אקסל — וכך אנחנו מתבדלים</a:t>
            </a:r>
            <a:endParaRPr lang="en-US" sz="1500" dirty="0"/>
          </a:p>
        </p:txBody>
      </p:sp>
      <p:sp>
        <p:nvSpPr>
          <p:cNvPr id="5" name="Shape 7"/>
          <p:cNvSpPr/>
          <p:nvPr/>
        </p:nvSpPr>
        <p:spPr>
          <a:xfrm>
            <a:off x="8014716" y="237744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6" name="Text 8"/>
          <p:cNvSpPr/>
          <p:nvPr/>
        </p:nvSpPr>
        <p:spPr>
          <a:xfrm>
            <a:off x="8014716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rtl="1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 3</a:t>
            </a:r>
            <a:endParaRPr lang="en-US" sz="3600" dirty="0"/>
          </a:p>
        </p:txBody>
      </p:sp>
      <p:sp>
        <p:nvSpPr>
          <p:cNvPr id="7" name="Text 9"/>
          <p:cNvSpPr/>
          <p:nvPr/>
        </p:nvSpPr>
        <p:spPr>
          <a:xfrm>
            <a:off x="8014716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הטמעה מהירה יותר מהמתחרים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39996" y="237744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4539996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-50%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4539996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לעומת החלופות הקיימות</a:t>
            </a:r>
            <a:endParaRPr lang="en-US" sz="1400" dirty="0"/>
          </a:p>
        </p:txBody>
      </p:sp>
      <p:sp>
        <p:nvSpPr>
          <p:cNvPr id="11" name="Shape 1"/>
          <p:cNvSpPr/>
          <p:nvPr/>
        </p:nvSpPr>
        <p:spPr>
          <a:xfrm>
            <a:off x="1065276" y="237744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12" name="Text 2"/>
          <p:cNvSpPr/>
          <p:nvPr/>
        </p:nvSpPr>
        <p:spPr>
          <a:xfrm>
            <a:off x="1065276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100%</a:t>
            </a:r>
            <a:endParaRPr lang="en-US" sz="3600" dirty="0"/>
          </a:p>
        </p:txBody>
      </p:sp>
      <p:sp>
        <p:nvSpPr>
          <p:cNvPr id="13" name="Text 3"/>
          <p:cNvSpPr/>
          <p:nvPr/>
        </p:nvSpPr>
        <p:spPr>
          <a:xfrm>
            <a:off x="1065276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בעברית ומותאם לשוק המקומי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הצוות</a:t>
            </a:r>
            <a:endParaRPr lang="en-US" sz="3200" dirty="0"/>
          </a:p>
        </p:txBody>
      </p:sp>
      <p:sp>
        <p:nvSpPr>
          <p:cNvPr id="14" name="Shape 7"/>
          <p:cNvSpPr/>
          <p:nvPr/>
        </p:nvSpPr>
        <p:spPr>
          <a:xfrm>
            <a:off x="8106156" y="20116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EEE6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036" y="2377440"/>
            <a:ext cx="640080" cy="6400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106156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rtl="1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פרטי ומשפחה</a:t>
            </a:r>
            <a:endParaRPr lang="en-US" sz="2000" dirty="0"/>
          </a:p>
        </p:txBody>
      </p:sp>
      <p:sp>
        <p:nvSpPr>
          <p:cNvPr id="17" name="Text 9"/>
          <p:cNvSpPr/>
          <p:nvPr/>
        </p:nvSpPr>
        <p:spPr>
          <a:xfrm>
            <a:off x="8106156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מנכ"ל ומייסד</a:t>
            </a:r>
            <a:endParaRPr lang="en-US" sz="1300" dirty="0"/>
          </a:p>
        </p:txBody>
      </p:sp>
      <p:sp>
        <p:nvSpPr>
          <p:cNvPr id="18" name="Text 9"/>
          <p:cNvSpPr/>
          <p:nvPr/>
        </p:nvSpPr>
        <p:spPr>
          <a:xfrm>
            <a:off x="8106156" y="4389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 b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שנות ניסיון בניהול מוצר ומכירות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4448556" y="20116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EEE6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36" y="2377440"/>
            <a:ext cx="640080" cy="6400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48556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rtl="1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פרטי ומשפחה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4448556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סמנכ"לית טכנולוגיה (CTO)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4448556" y="4389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 b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לשעבר ראש צוות פיתוח בחברת הייטק</a:t>
            </a:r>
            <a:endParaRPr lang="en-US" sz="1150" dirty="0"/>
          </a:p>
        </p:txBody>
      </p:sp>
      <p:sp>
        <p:nvSpPr>
          <p:cNvPr id="4" name="Shape 1"/>
          <p:cNvSpPr/>
          <p:nvPr/>
        </p:nvSpPr>
        <p:spPr>
          <a:xfrm>
            <a:off x="790956" y="20116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EEE6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36" y="2377440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0956" y="3291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rtl="1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פרטי ומשפחה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90956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סמנכ"ל שיווק ומכירות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790956" y="4389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 b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הוביל צמיחה של פי 4 בחברה הקודמת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FB"/>
        </a:solidFill>
      </p:bgPr>
    </p:bg>
    <p:spTree>
      <p:nvGrpSpPr>
        <p:cNvPr id="2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בכספי הגיוס</a:t>
            </a: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כך נשתמש ב-$1.5M במהלך 18 החודשים הקרובים</a:t>
            </a:r>
            <a:endParaRPr lang="en-US" sz="1500" dirty="0"/>
          </a:p>
        </p:txBody>
      </p:sp>
      <p:sp>
        <p:nvSpPr>
          <p:cNvPr id="5" name="Shape 7"/>
          <p:cNvSpPr/>
          <p:nvPr/>
        </p:nvSpPr>
        <p:spPr>
          <a:xfrm>
            <a:off x="8014716" y="1965960"/>
            <a:ext cx="3108960" cy="25146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6" name="Text 8"/>
          <p:cNvSpPr/>
          <p:nvPr/>
        </p:nvSpPr>
        <p:spPr>
          <a:xfrm>
            <a:off x="8014716" y="2194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40%</a:t>
            </a:r>
            <a:endParaRPr lang="en-US" sz="3600" dirty="0"/>
          </a:p>
        </p:txBody>
      </p:sp>
      <p:sp>
        <p:nvSpPr>
          <p:cNvPr id="7" name="Text 9"/>
          <p:cNvSpPr/>
          <p:nvPr/>
        </p:nvSpPr>
        <p:spPr>
          <a:xfrm>
            <a:off x="8014716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פיתוח מוצר</a:t>
            </a:r>
            <a:endParaRPr lang="en-US" sz="1400" dirty="0"/>
          </a:p>
        </p:txBody>
      </p:sp>
      <p:sp>
        <p:nvSpPr>
          <p:cNvPr id="8" name="Text 9"/>
          <p:cNvSpPr/>
          <p:nvPr/>
        </p:nvSpPr>
        <p:spPr>
          <a:xfrm>
            <a:off x="8014716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 b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הרחבת הצוות הטכנולוגי ופיצ׳רים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4539996" y="1965960"/>
            <a:ext cx="3108960" cy="25146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10" name="Text 5"/>
          <p:cNvSpPr/>
          <p:nvPr/>
        </p:nvSpPr>
        <p:spPr>
          <a:xfrm>
            <a:off x="4539996" y="2194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35%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39996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שיווק ומכירות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4539996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 b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גיוס לקוחות וכניסה לשוק</a:t>
            </a:r>
            <a:endParaRPr lang="en-US" sz="1200" dirty="0"/>
          </a:p>
        </p:txBody>
      </p:sp>
      <p:sp>
        <p:nvSpPr>
          <p:cNvPr id="13" name="Shape 1"/>
          <p:cNvSpPr/>
          <p:nvPr/>
        </p:nvSpPr>
        <p:spPr>
          <a:xfrm>
            <a:off x="1065276" y="1965960"/>
            <a:ext cx="3108960" cy="25146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14" name="Text 2"/>
          <p:cNvSpPr/>
          <p:nvPr/>
        </p:nvSpPr>
        <p:spPr>
          <a:xfrm>
            <a:off x="1065276" y="2194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25%</a:t>
            </a:r>
            <a:endParaRPr lang="en-US" sz="3600" dirty="0"/>
          </a:p>
        </p:txBody>
      </p:sp>
      <p:sp>
        <p:nvSpPr>
          <p:cNvPr id="15" name="Text 3"/>
          <p:cNvSpPr/>
          <p:nvPr/>
        </p:nvSpPr>
        <p:spPr>
          <a:xfrm>
            <a:off x="1065276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תפעול וגיוס צוות</a:t>
            </a:r>
            <a:endParaRPr lang="en-US" sz="1400" dirty="0"/>
          </a:p>
        </p:txBody>
      </p:sp>
      <p:sp>
        <p:nvSpPr>
          <p:cNvPr id="16" name="Text 3"/>
          <p:cNvSpPr/>
          <p:nvPr/>
        </p:nvSpPr>
        <p:spPr>
          <a:xfrm>
            <a:off x="1065276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 b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שירות לקוחות, כספים ותשתיות</a:t>
            </a:r>
            <a:endParaRPr lang="en-US" sz="1200" dirty="0"/>
          </a:p>
        </p:txBody>
      </p:sp>
      <p:sp>
        <p:nvSpPr>
          <p:cNvPr id="17" name="Rounded Rectangle 16"/>
          <p:cNvSpPr/>
          <p:nvPr/>
        </p:nvSpPr>
        <p:spPr>
          <a:xfrm>
            <a:off x="1069848" y="4892040"/>
            <a:ext cx="2459736" cy="292608"/>
          </a:xfrm>
          <a:prstGeom prst="roundRect">
            <a:avLst/>
          </a:prstGeom>
          <a:solidFill>
            <a:srgbClr val="DDD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84448" y="4892040"/>
            <a:ext cx="3465575" cy="292608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04888" y="4892040"/>
            <a:ext cx="3968496" cy="29260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2026-08-21T13:54:40Z</dcterms:created>
  <dcterms:modified xsi:type="dcterms:W3CDTF">2026-08-21T13:54:40Z</dcterms:modified>
</cp:coreProperties>
</file>