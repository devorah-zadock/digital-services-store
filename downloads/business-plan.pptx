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הכנסות</c:v>
                </c:pt>
              </c:strCache>
            </c:strRef>
          </c:tx>
          <c:spPr>
            <a:solidFill>
              <a:srgbClr val="0E5E6B"/>
            </a:solidFill>
          </c:spPr>
          <c:cat>
            <c:strRef>
              <c:f>Sheet1!$A$2:$A$4</c:f>
              <c:strCache>
                <c:ptCount val="3"/>
                <c:pt idx="0">
                  <c:v>שנה 1</c:v>
                </c:pt>
                <c:pt idx="1">
                  <c:v>שנה 2</c:v>
                </c:pt>
                <c:pt idx="2">
                  <c:v>שנה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</c:v>
                </c:pt>
                <c:pt idx="1">
                  <c:v>1150</c:v>
                </c:pt>
                <c:pt idx="2">
                  <c:v>2400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הוצאות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Sheet1!$A$2:$A$4</c:f>
              <c:strCache>
                <c:ptCount val="3"/>
                <c:pt idx="0">
                  <c:v>שנה 1</c:v>
                </c:pt>
                <c:pt idx="1">
                  <c:v>שנה 2</c:v>
                </c:pt>
                <c:pt idx="2">
                  <c:v>שנה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780</c:v>
                </c:pt>
                <c:pt idx="1">
                  <c:v>1050</c:v>
                </c:pt>
                <c:pt idx="2">
                  <c:v>1650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3D6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6767B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E2B2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A44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Oval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7707E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7707E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3" descr="compass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960120"/>
            <a:ext cx="1371600" cy="1371600"/>
          </a:xfrm>
          <a:prstGeom prst="rect">
            <a:avLst/>
          </a:prstGeom>
        </p:spPr>
      </p:pic>
      <p:sp>
        <p:nvSpPr>
          <p:cNvPr id="6" name="TextBox 4"/>
          <p:cNvSpPr txBox="1"/>
          <p:nvPr/>
        </p:nvSpPr>
        <p:spPr>
          <a:xfrm>
            <a:off x="914400" y="2606040"/>
            <a:ext cx="10360152" cy="9144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4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שם העסק שלכם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2000" b="0" dirty="0" i="1">
                <a:solidFill>
                  <a:srgbClr val="D5E7EA"/>
                </a:solidFill>
                <a:latin typeface="Calibri"/>
                <a:ea typeface="Calibri"/>
                <a:cs typeface="Calibri"/>
              </a:rPr>
              <a:t>תוכנית עסקית | 2027–2029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184648" y="43434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7"/>
          <p:cNvSpPr txBox="1"/>
          <p:nvPr/>
        </p:nvSpPr>
        <p:spPr>
          <a:xfrm>
            <a:off x="5184648" y="4343400"/>
            <a:ext cx="182880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300" b="1" dirty="0">
                <a:solidFill>
                  <a:srgbClr val="0A3A44"/>
                </a:solidFill>
                <a:latin typeface="Calibri"/>
                <a:ea typeface="Calibri"/>
                <a:cs typeface="Calibri"/>
              </a:rPr>
              <a:t>טיוטה לדיון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0" dirty="0">
                <a:solidFill>
                  <a:srgbClr val="9CC3C9"/>
                </a:solidFill>
                <a:latin typeface="Calibri"/>
                <a:ea typeface="Calibri"/>
                <a:cs typeface="Calibri"/>
              </a:rPr>
              <a:t>תבנית תוכנית עסקית — ניתנת להתאמה מלאה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309360" y="457200"/>
            <a:ext cx="523951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תקציר מנהלים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309360" y="1371600"/>
            <a:ext cx="5239512" cy="192024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4999"/>
              </a:lnSpc>
              <a:buNone/>
            </a:pPr>
            <a:r>
              <a:rPr lang="he-IL" sz="1500" b="0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כתבו כאן בשלושה–ארבעה משפטים מה העסק עושה, למי הוא פונה ולמה עכשיו. תארו את היתרון המרכזי שלכם, את היעד העסקי לשלוש השנים הקרובות ואת ההשקעה הנדרשת כדי להגיע אליו.</a:t>
            </a:r>
          </a:p>
        </p:txBody>
      </p:sp>
      <p:sp>
        <p:nvSpPr>
          <p:cNvPr id="5" name="Oval 3"/>
          <p:cNvSpPr/>
          <p:nvPr/>
        </p:nvSpPr>
        <p:spPr>
          <a:xfrm>
            <a:off x="11045952" y="3429000"/>
            <a:ext cx="502920" cy="502920"/>
          </a:xfrm>
          <a:prstGeom prst="ellipse">
            <a:avLst/>
          </a:prstGeom>
          <a:solidFill>
            <a:srgbClr val="E6F0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4" descr="target-0E5E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109" y="3542157"/>
            <a:ext cx="276606" cy="276606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6309360" y="3374136"/>
            <a:ext cx="4572000" cy="3200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5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המטרה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6309360" y="3694176"/>
            <a:ext cx="4572000" cy="3200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2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להפוך לפתרון המוביל בתחום עבור עסקים קטנים</a:t>
            </a:r>
          </a:p>
        </p:txBody>
      </p:sp>
      <p:sp>
        <p:nvSpPr>
          <p:cNvPr id="9" name="Oval 7"/>
          <p:cNvSpPr/>
          <p:nvPr/>
        </p:nvSpPr>
        <p:spPr>
          <a:xfrm>
            <a:off x="11045952" y="4297680"/>
            <a:ext cx="502920" cy="502920"/>
          </a:xfrm>
          <a:prstGeom prst="ellipse">
            <a:avLst/>
          </a:prstGeom>
          <a:solidFill>
            <a:srgbClr val="E6F0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8" descr="users-0E5E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9109" y="4410837"/>
            <a:ext cx="276606" cy="276606"/>
          </a:xfrm>
          <a:prstGeom prst="rect">
            <a:avLst/>
          </a:prstGeom>
        </p:spPr>
      </p:pic>
      <p:sp>
        <p:nvSpPr>
          <p:cNvPr id="11" name="TextBox 9"/>
          <p:cNvSpPr txBox="1"/>
          <p:nvPr/>
        </p:nvSpPr>
        <p:spPr>
          <a:xfrm>
            <a:off x="6309360" y="4242816"/>
            <a:ext cx="4572000" cy="3200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5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הלקוחות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6309360" y="4562856"/>
            <a:ext cx="4572000" cy="3200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2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בעלי עסקים קטנים ובינוניים בישראל</a:t>
            </a:r>
          </a:p>
        </p:txBody>
      </p:sp>
      <p:sp>
        <p:nvSpPr>
          <p:cNvPr id="13" name="Oval 11"/>
          <p:cNvSpPr/>
          <p:nvPr/>
        </p:nvSpPr>
        <p:spPr>
          <a:xfrm>
            <a:off x="11045952" y="5166360"/>
            <a:ext cx="502920" cy="502920"/>
          </a:xfrm>
          <a:prstGeom prst="ellipse">
            <a:avLst/>
          </a:prstGeom>
          <a:solidFill>
            <a:srgbClr val="E6F0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2" descr="trending-0E5E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9109" y="5279517"/>
            <a:ext cx="276606" cy="276606"/>
          </a:xfrm>
          <a:prstGeom prst="rect">
            <a:avLst/>
          </a:prstGeom>
        </p:spPr>
      </p:pic>
      <p:sp>
        <p:nvSpPr>
          <p:cNvPr id="15" name="TextBox 13"/>
          <p:cNvSpPr txBox="1"/>
          <p:nvPr/>
        </p:nvSpPr>
        <p:spPr>
          <a:xfrm>
            <a:off x="6309360" y="5111496"/>
            <a:ext cx="4572000" cy="3200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5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הצמיחה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6309360" y="5431536"/>
            <a:ext cx="4572000" cy="3200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2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הכנסות של ₪2.4M עד סוף השנה השלישית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640080" y="457200"/>
            <a:ext cx="5120640" cy="5943600"/>
          </a:xfrm>
          <a:prstGeom prst="roundRect">
            <a:avLst>
              <a:gd name="adj" fmla="val 2000"/>
            </a:avLst>
          </a:prstGeom>
          <a:solidFill>
            <a:srgbClr val="E6F0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6"/>
          <p:cNvSpPr txBox="1"/>
          <p:nvPr/>
        </p:nvSpPr>
        <p:spPr>
          <a:xfrm>
            <a:off x="640080" y="914400"/>
            <a:ext cx="5120640" cy="8686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44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₪2.4M</a:t>
            </a:r>
          </a:p>
        </p:txBody>
      </p:sp>
      <p:sp>
        <p:nvSpPr>
          <p:cNvPr id="19" name="TextBox 17"/>
          <p:cNvSpPr txBox="1"/>
          <p:nvPr/>
        </p:nvSpPr>
        <p:spPr>
          <a:xfrm>
            <a:off x="640080" y="1783080"/>
            <a:ext cx="512064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500" b="0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הכנסות צפויות בשנה 3</a:t>
            </a:r>
          </a:p>
        </p:txBody>
      </p:sp>
      <p:cxnSp>
        <p:nvCxnSpPr>
          <p:cNvPr id="20" name="Connector 18"/>
          <p:cNvCxnSpPr/>
          <p:nvPr/>
        </p:nvCxnSpPr>
        <p:spPr>
          <a:xfrm>
            <a:off x="2011680" y="2450591"/>
            <a:ext cx="2377440" cy="0"/>
          </a:xfrm>
          <a:prstGeom prst="line">
            <a:avLst/>
          </a:prstGeom>
          <a:ln w="15875">
            <a:solidFill>
              <a:srgbClr val="C9DDE0"/>
            </a:solidFill>
          </a:ln>
        </p:spPr>
      </p:cxnSp>
      <p:sp>
        <p:nvSpPr>
          <p:cNvPr id="21" name="TextBox 19"/>
          <p:cNvSpPr txBox="1"/>
          <p:nvPr/>
        </p:nvSpPr>
        <p:spPr>
          <a:xfrm>
            <a:off x="640080" y="2697480"/>
            <a:ext cx="5120640" cy="8686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44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640080" y="3566160"/>
            <a:ext cx="512064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500" b="0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חודשים לנקודת האיזון</a:t>
            </a:r>
          </a:p>
        </p:txBody>
      </p:sp>
      <p:cxnSp>
        <p:nvCxnSpPr>
          <p:cNvPr id="23" name="Connector 21"/>
          <p:cNvCxnSpPr/>
          <p:nvPr/>
        </p:nvCxnSpPr>
        <p:spPr>
          <a:xfrm>
            <a:off x="2011680" y="4233672"/>
            <a:ext cx="2377440" cy="0"/>
          </a:xfrm>
          <a:prstGeom prst="line">
            <a:avLst/>
          </a:prstGeom>
          <a:ln w="15875">
            <a:solidFill>
              <a:srgbClr val="C9DDE0"/>
            </a:solidFill>
          </a:ln>
        </p:spPr>
      </p:cxnSp>
      <p:sp>
        <p:nvSpPr>
          <p:cNvPr id="24" name="TextBox 22"/>
          <p:cNvSpPr txBox="1"/>
          <p:nvPr/>
        </p:nvSpPr>
        <p:spPr>
          <a:xfrm>
            <a:off x="640080" y="4480560"/>
            <a:ext cx="5120640" cy="8686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44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₪600K</a:t>
            </a:r>
          </a:p>
        </p:txBody>
      </p:sp>
      <p:sp>
        <p:nvSpPr>
          <p:cNvPr id="25" name="TextBox 23"/>
          <p:cNvSpPr txBox="1"/>
          <p:nvPr/>
        </p:nvSpPr>
        <p:spPr>
          <a:xfrm>
            <a:off x="640080" y="5349240"/>
            <a:ext cx="512064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500" b="0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השקעה נדרשת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ההזדמנות והפתרון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הבעיה שאנחנו מזהים בשוק, ואיך העסק שלנו פותר אותה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6245352" y="1828800"/>
            <a:ext cx="5303520" cy="4343400"/>
          </a:xfrm>
          <a:prstGeom prst="roundRect">
            <a:avLst>
              <a:gd name="adj" fmla="val 2800"/>
            </a:avLst>
          </a:prstGeom>
          <a:solidFill>
            <a:srgbClr val="E6F0F1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Oval 4"/>
          <p:cNvSpPr/>
          <p:nvPr/>
        </p:nvSpPr>
        <p:spPr>
          <a:xfrm>
            <a:off x="10725912" y="21488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5" descr="target-0E5E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930" y="2292858"/>
            <a:ext cx="352044" cy="352044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6519672" y="2194560"/>
            <a:ext cx="4069080" cy="5486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22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הבעיה וההזדמנות</a:t>
            </a:r>
          </a:p>
        </p:txBody>
      </p:sp>
      <p:sp>
        <p:nvSpPr>
          <p:cNvPr id="9" name="Oval 7"/>
          <p:cNvSpPr/>
          <p:nvPr/>
        </p:nvSpPr>
        <p:spPr>
          <a:xfrm>
            <a:off x="11045952" y="3246120"/>
            <a:ext cx="201168" cy="20116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8"/>
          <p:cNvSpPr txBox="1"/>
          <p:nvPr/>
        </p:nvSpPr>
        <p:spPr>
          <a:xfrm>
            <a:off x="6519672" y="3154680"/>
            <a:ext cx="438912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500" b="0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תארו את הכאב המרכזי של הלקוחות — מה לא עובד היום</a:t>
            </a:r>
          </a:p>
        </p:txBody>
      </p:sp>
      <p:sp>
        <p:nvSpPr>
          <p:cNvPr id="11" name="Oval 9"/>
          <p:cNvSpPr/>
          <p:nvPr/>
        </p:nvSpPr>
        <p:spPr>
          <a:xfrm>
            <a:off x="11045952" y="4160520"/>
            <a:ext cx="201168" cy="20116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0"/>
          <p:cNvSpPr txBox="1"/>
          <p:nvPr/>
        </p:nvSpPr>
        <p:spPr>
          <a:xfrm>
            <a:off x="6519672" y="4069080"/>
            <a:ext cx="438912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500" b="0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כמה זה עולה להם: זמן, כסף או לקוחות שהולכים לאיבוד</a:t>
            </a:r>
          </a:p>
        </p:txBody>
      </p:sp>
      <p:sp>
        <p:nvSpPr>
          <p:cNvPr id="13" name="Oval 11"/>
          <p:cNvSpPr/>
          <p:nvPr/>
        </p:nvSpPr>
        <p:spPr>
          <a:xfrm>
            <a:off x="11045952" y="5074920"/>
            <a:ext cx="201168" cy="20116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2"/>
          <p:cNvSpPr txBox="1"/>
          <p:nvPr/>
        </p:nvSpPr>
        <p:spPr>
          <a:xfrm>
            <a:off x="6519672" y="4983480"/>
            <a:ext cx="438912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500" b="0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למה עכשיו: שינוי בשוק, ברגולציה או בטכנולוגיה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40080" y="1828800"/>
            <a:ext cx="5303520" cy="4343400"/>
          </a:xfrm>
          <a:prstGeom prst="roundRect">
            <a:avLst>
              <a:gd name="adj" fmla="val 2800"/>
            </a:avLst>
          </a:prstGeom>
          <a:solidFill>
            <a:srgbClr val="0E5E6B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Oval 14"/>
          <p:cNvSpPr/>
          <p:nvPr/>
        </p:nvSpPr>
        <p:spPr>
          <a:xfrm>
            <a:off x="5120640" y="2148840"/>
            <a:ext cx="640080" cy="640080"/>
          </a:xfrm>
          <a:prstGeom prst="ellipse">
            <a:avLst/>
          </a:prstGeom>
          <a:solidFill>
            <a:srgbClr val="2A7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5" descr="zap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657" y="2292858"/>
            <a:ext cx="352044" cy="352044"/>
          </a:xfrm>
          <a:prstGeom prst="rect">
            <a:avLst/>
          </a:prstGeom>
        </p:spPr>
      </p:pic>
      <p:sp>
        <p:nvSpPr>
          <p:cNvPr id="18" name="TextBox 16"/>
          <p:cNvSpPr txBox="1"/>
          <p:nvPr/>
        </p:nvSpPr>
        <p:spPr>
          <a:xfrm>
            <a:off x="914400" y="2194560"/>
            <a:ext cx="4069080" cy="5486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הפתרון שלנו</a:t>
            </a:r>
          </a:p>
        </p:txBody>
      </p:sp>
      <p:sp>
        <p:nvSpPr>
          <p:cNvPr id="19" name="Oval 17"/>
          <p:cNvSpPr/>
          <p:nvPr/>
        </p:nvSpPr>
        <p:spPr>
          <a:xfrm>
            <a:off x="5440680" y="3246120"/>
            <a:ext cx="201168" cy="20116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8"/>
          <p:cNvSpPr txBox="1"/>
          <p:nvPr/>
        </p:nvSpPr>
        <p:spPr>
          <a:xfrm>
            <a:off x="914400" y="3154680"/>
            <a:ext cx="438912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5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מה המוצר או השירות עושה, במשפט אחד ברור</a:t>
            </a:r>
          </a:p>
        </p:txBody>
      </p:sp>
      <p:sp>
        <p:nvSpPr>
          <p:cNvPr id="21" name="Oval 19"/>
          <p:cNvSpPr/>
          <p:nvPr/>
        </p:nvSpPr>
        <p:spPr>
          <a:xfrm>
            <a:off x="5440680" y="4160520"/>
            <a:ext cx="201168" cy="20116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0"/>
          <p:cNvSpPr txBox="1"/>
          <p:nvPr/>
        </p:nvSpPr>
        <p:spPr>
          <a:xfrm>
            <a:off x="914400" y="4069080"/>
            <a:ext cx="438912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5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מה מבדיל אותו מהחלופות שקיימות היום</a:t>
            </a:r>
          </a:p>
        </p:txBody>
      </p:sp>
      <p:sp>
        <p:nvSpPr>
          <p:cNvPr id="23" name="Oval 21"/>
          <p:cNvSpPr/>
          <p:nvPr/>
        </p:nvSpPr>
        <p:spPr>
          <a:xfrm>
            <a:off x="5440680" y="5074920"/>
            <a:ext cx="201168" cy="20116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2"/>
          <p:cNvSpPr txBox="1"/>
          <p:nvPr/>
        </p:nvSpPr>
        <p:spPr>
          <a:xfrm>
            <a:off x="914400" y="4983480"/>
            <a:ext cx="438912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5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התועלת המדידה ללקוח — למשל חיסכון של 30% בזמן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A44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Oval 1"/>
          <p:cNvSpPr/>
          <p:nvPr/>
        </p:nvSpPr>
        <p:spPr>
          <a:xfrm>
            <a:off x="9966960" y="-2011680"/>
            <a:ext cx="4206240" cy="4206240"/>
          </a:xfrm>
          <a:prstGeom prst="ellipse">
            <a:avLst/>
          </a:prstGeom>
          <a:solidFill>
            <a:srgbClr val="17707E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2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קהל יעד ושוק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9CC3C9"/>
                </a:solidFill>
                <a:latin typeface="Calibri"/>
                <a:ea typeface="Calibri"/>
                <a:cs typeface="Calibri"/>
              </a:rPr>
              <a:t>החליפו את המספרים בנתוני השוק שלכם ובמקורות שעליהם הם מבוססים</a:t>
            </a:r>
          </a:p>
        </p:txBody>
      </p:sp>
      <p:sp>
        <p:nvSpPr>
          <p:cNvPr id="6" name="Rounded Rectangle 4"/>
          <p:cNvSpPr/>
          <p:nvPr/>
        </p:nvSpPr>
        <p:spPr>
          <a:xfrm>
            <a:off x="8211312" y="1828800"/>
            <a:ext cx="3337560" cy="2514600"/>
          </a:xfrm>
          <a:prstGeom prst="roundRect">
            <a:avLst>
              <a:gd name="adj" fmla="val 2800"/>
            </a:avLst>
          </a:prstGeom>
          <a:solidFill>
            <a:srgbClr val="145764"/>
          </a:solidFill>
          <a:ln w="12700">
            <a:solidFill>
              <a:srgbClr val="2370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5"/>
          <p:cNvSpPr/>
          <p:nvPr/>
        </p:nvSpPr>
        <p:spPr>
          <a:xfrm>
            <a:off x="9153144" y="21031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9153144" y="2103120"/>
            <a:ext cx="1463040" cy="384048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1" dirty="0">
                <a:solidFill>
                  <a:srgbClr val="0A3A44"/>
                </a:solidFill>
                <a:latin typeface="Calibri"/>
                <a:ea typeface="Calibri"/>
                <a:cs typeface="Calibri"/>
              </a:rPr>
              <a:t>השוק הכולל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8211312" y="2651760"/>
            <a:ext cx="3337560" cy="8686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4400" b="1" dirty="0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450K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8211312" y="3520440"/>
            <a:ext cx="333756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5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עסקים קטנים בישראל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425696" y="1828800"/>
            <a:ext cx="3337560" cy="2514600"/>
          </a:xfrm>
          <a:prstGeom prst="roundRect">
            <a:avLst>
              <a:gd name="adj" fmla="val 2800"/>
            </a:avLst>
          </a:prstGeom>
          <a:solidFill>
            <a:srgbClr val="145764"/>
          </a:solidFill>
          <a:ln w="12700">
            <a:solidFill>
              <a:srgbClr val="2370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0"/>
          <p:cNvSpPr/>
          <p:nvPr/>
        </p:nvSpPr>
        <p:spPr>
          <a:xfrm>
            <a:off x="5367528" y="21031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1"/>
          <p:cNvSpPr txBox="1"/>
          <p:nvPr/>
        </p:nvSpPr>
        <p:spPr>
          <a:xfrm>
            <a:off x="5367528" y="2103120"/>
            <a:ext cx="1463040" cy="384048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1" dirty="0">
                <a:solidFill>
                  <a:srgbClr val="0A3A44"/>
                </a:solidFill>
                <a:latin typeface="Calibri"/>
                <a:ea typeface="Calibri"/>
                <a:cs typeface="Calibri"/>
              </a:rPr>
              <a:t>השוק הזמין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4425696" y="2651760"/>
            <a:ext cx="3337560" cy="8686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4400" b="1" dirty="0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60K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4425696" y="3520440"/>
            <a:ext cx="333756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5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עסקים בתחום הפעילות שלנו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640080" y="1828800"/>
            <a:ext cx="3337560" cy="2514600"/>
          </a:xfrm>
          <a:prstGeom prst="roundRect">
            <a:avLst>
              <a:gd name="adj" fmla="val 2800"/>
            </a:avLst>
          </a:prstGeom>
          <a:solidFill>
            <a:srgbClr val="145764"/>
          </a:solidFill>
          <a:ln w="12700">
            <a:solidFill>
              <a:srgbClr val="2370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5"/>
          <p:cNvSpPr/>
          <p:nvPr/>
        </p:nvSpPr>
        <p:spPr>
          <a:xfrm>
            <a:off x="1581912" y="21031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6"/>
          <p:cNvSpPr txBox="1"/>
          <p:nvPr/>
        </p:nvSpPr>
        <p:spPr>
          <a:xfrm>
            <a:off x="1581912" y="2103120"/>
            <a:ext cx="1463040" cy="384048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1" dirty="0">
                <a:solidFill>
                  <a:srgbClr val="0A3A44"/>
                </a:solidFill>
                <a:latin typeface="Calibri"/>
                <a:ea typeface="Calibri"/>
                <a:cs typeface="Calibri"/>
              </a:rPr>
              <a:t>היעד שלנו</a:t>
            </a:r>
          </a:p>
        </p:txBody>
      </p:sp>
      <p:sp>
        <p:nvSpPr>
          <p:cNvPr id="19" name="TextBox 17"/>
          <p:cNvSpPr txBox="1"/>
          <p:nvPr/>
        </p:nvSpPr>
        <p:spPr>
          <a:xfrm>
            <a:off x="640080" y="2651760"/>
            <a:ext cx="3337560" cy="8686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4400" b="1" dirty="0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3,000</a:t>
            </a:r>
          </a:p>
        </p:txBody>
      </p:sp>
      <p:sp>
        <p:nvSpPr>
          <p:cNvPr id="20" name="TextBox 18"/>
          <p:cNvSpPr txBox="1"/>
          <p:nvPr/>
        </p:nvSpPr>
        <p:spPr>
          <a:xfrm>
            <a:off x="640080" y="3520440"/>
            <a:ext cx="333756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5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לקוחות משלמים עד שנה 3</a:t>
            </a:r>
          </a:p>
        </p:txBody>
      </p:sp>
      <p:sp>
        <p:nvSpPr>
          <p:cNvPr id="21" name="Rounded Rectangle 19"/>
          <p:cNvSpPr/>
          <p:nvPr/>
        </p:nvSpPr>
        <p:spPr>
          <a:xfrm>
            <a:off x="640080" y="4800600"/>
            <a:ext cx="10908792" cy="1325880"/>
          </a:xfrm>
          <a:prstGeom prst="roundRect">
            <a:avLst>
              <a:gd name="adj" fmla="val 2800"/>
            </a:avLst>
          </a:prstGeom>
          <a:solidFill>
            <a:srgbClr val="145764"/>
          </a:solidFill>
          <a:ln w="12700">
            <a:solidFill>
              <a:srgbClr val="2370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0"/>
          <p:cNvSpPr/>
          <p:nvPr/>
        </p:nvSpPr>
        <p:spPr>
          <a:xfrm>
            <a:off x="10835640" y="5120640"/>
            <a:ext cx="640080" cy="640080"/>
          </a:xfrm>
          <a:prstGeom prst="ellipse">
            <a:avLst/>
          </a:prstGeom>
          <a:solidFill>
            <a:srgbClr val="2370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1" descr="users-F2A9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658" y="5264657"/>
            <a:ext cx="352044" cy="352044"/>
          </a:xfrm>
          <a:prstGeom prst="rect">
            <a:avLst/>
          </a:prstGeom>
        </p:spPr>
      </p:pic>
      <p:sp>
        <p:nvSpPr>
          <p:cNvPr id="24" name="TextBox 22"/>
          <p:cNvSpPr txBox="1"/>
          <p:nvPr/>
        </p:nvSpPr>
        <p:spPr>
          <a:xfrm>
            <a:off x="914400" y="4937760"/>
            <a:ext cx="973836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הלקוח האידיאלי שלנו</a:t>
            </a:r>
          </a:p>
        </p:txBody>
      </p:sp>
      <p:sp>
        <p:nvSpPr>
          <p:cNvPr id="25" name="TextBox 23"/>
          <p:cNvSpPr txBox="1"/>
          <p:nvPr/>
        </p:nvSpPr>
        <p:spPr>
          <a:xfrm>
            <a:off x="914400" y="5349240"/>
            <a:ext cx="9738360" cy="59436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D5E7EA"/>
                </a:solidFill>
                <a:latin typeface="Calibri"/>
                <a:ea typeface="Calibri"/>
                <a:cs typeface="Calibri"/>
              </a:rPr>
              <a:t>בעלי עסקים עם 1–20 עובדים, שמנהלים היום את התהליך ידנית, מחפשים לחסוך זמן ומוכנים לשלם על פתרון פשוט בעברית.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מודל הכנסות ותמחור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מאיפה יגיע הכסף — ומה החלק של כל מקור בהכנסות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8211312" y="1828800"/>
            <a:ext cx="3337560" cy="4206240"/>
          </a:xfrm>
          <a:prstGeom prst="roundRect">
            <a:avLst>
              <a:gd name="adj" fmla="val 2800"/>
            </a:avLst>
          </a:prstGeom>
          <a:solidFill>
            <a:srgbClr val="0E5E6B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8211312" y="2103120"/>
            <a:ext cx="3337560" cy="8229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4400" b="1" dirty="0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70%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8211312" y="2926080"/>
            <a:ext cx="333756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0" dirty="0">
                <a:solidFill>
                  <a:srgbClr val="D5E7EA"/>
                </a:solidFill>
                <a:latin typeface="Calibri"/>
                <a:ea typeface="Calibri"/>
                <a:cs typeface="Calibri"/>
              </a:rPr>
              <a:t>מההכנסות</a:t>
            </a:r>
          </a:p>
        </p:txBody>
      </p:sp>
      <p:cxnSp>
        <p:nvCxnSpPr>
          <p:cNvPr id="8" name="Connector 6"/>
          <p:cNvCxnSpPr/>
          <p:nvPr/>
        </p:nvCxnSpPr>
        <p:spPr>
          <a:xfrm>
            <a:off x="8759952" y="3520440"/>
            <a:ext cx="2240280" cy="0"/>
          </a:xfrm>
          <a:prstGeom prst="line">
            <a:avLst/>
          </a:prstGeom>
          <a:ln w="12700">
            <a:solidFill>
              <a:srgbClr val="3B8590"/>
            </a:solidFill>
          </a:ln>
        </p:spPr>
      </p:cxnSp>
      <p:sp>
        <p:nvSpPr>
          <p:cNvPr id="9" name="TextBox 7"/>
          <p:cNvSpPr txBox="1"/>
          <p:nvPr/>
        </p:nvSpPr>
        <p:spPr>
          <a:xfrm>
            <a:off x="8439912" y="3703320"/>
            <a:ext cx="288036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מנויים חודשיים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8439912" y="4160520"/>
            <a:ext cx="288036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500" b="1" dirty="0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₪149 לחודש לעסק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8485632" y="4617720"/>
            <a:ext cx="2788920" cy="109728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D5E7EA"/>
                </a:solidFill>
                <a:latin typeface="Calibri"/>
                <a:ea typeface="Calibri"/>
                <a:cs typeface="Calibri"/>
              </a:rPr>
              <a:t>הכנסה חוזרת וצפויה, עם הנחה על תשלום שנתי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4425696" y="1828800"/>
            <a:ext cx="3337560" cy="4206240"/>
          </a:xfrm>
          <a:prstGeom prst="roundRect">
            <a:avLst>
              <a:gd name="adj" fmla="val 2800"/>
            </a:avLst>
          </a:prstGeom>
          <a:solidFill>
            <a:srgbClr val="E6F0F1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1"/>
          <p:cNvSpPr txBox="1"/>
          <p:nvPr/>
        </p:nvSpPr>
        <p:spPr>
          <a:xfrm>
            <a:off x="4425696" y="2103120"/>
            <a:ext cx="3337560" cy="8229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44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4425696" y="2926080"/>
            <a:ext cx="333756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מההכנסות</a:t>
            </a:r>
          </a:p>
        </p:txBody>
      </p:sp>
      <p:cxnSp>
        <p:nvCxnSpPr>
          <p:cNvPr id="15" name="Connector 13"/>
          <p:cNvCxnSpPr/>
          <p:nvPr/>
        </p:nvCxnSpPr>
        <p:spPr>
          <a:xfrm>
            <a:off x="4974336" y="3520440"/>
            <a:ext cx="2240280" cy="0"/>
          </a:xfrm>
          <a:prstGeom prst="line">
            <a:avLst/>
          </a:prstGeom>
          <a:ln w="12700">
            <a:solidFill>
              <a:srgbClr val="C9DDE0"/>
            </a:solidFill>
          </a:ln>
        </p:spPr>
      </p:cxnSp>
      <p:sp>
        <p:nvSpPr>
          <p:cNvPr id="16" name="TextBox 14"/>
          <p:cNvSpPr txBox="1"/>
          <p:nvPr/>
        </p:nvSpPr>
        <p:spPr>
          <a:xfrm>
            <a:off x="4654296" y="3703320"/>
            <a:ext cx="288036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9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הטמעה והדרכה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654296" y="4160520"/>
            <a:ext cx="288036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500" b="1" dirty="0">
                <a:solidFill>
                  <a:srgbClr val="B9770E"/>
                </a:solidFill>
                <a:latin typeface="Calibri"/>
                <a:ea typeface="Calibri"/>
                <a:cs typeface="Calibri"/>
              </a:rPr>
              <a:t>₪1,500 חד-פעמי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4700016" y="4617720"/>
            <a:ext cx="2788920" cy="109728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ליווי בהקמה, הסבת נתונים והדרכת הצוות</a:t>
            </a:r>
          </a:p>
        </p:txBody>
      </p:sp>
      <p:sp>
        <p:nvSpPr>
          <p:cNvPr id="19" name="Rounded Rectangle 17"/>
          <p:cNvSpPr/>
          <p:nvPr/>
        </p:nvSpPr>
        <p:spPr>
          <a:xfrm>
            <a:off x="640080" y="1828800"/>
            <a:ext cx="3337560" cy="4206240"/>
          </a:xfrm>
          <a:prstGeom prst="roundRect">
            <a:avLst>
              <a:gd name="adj" fmla="val 2800"/>
            </a:avLst>
          </a:prstGeom>
          <a:solidFill>
            <a:srgbClr val="E6F0F1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8"/>
          <p:cNvSpPr txBox="1"/>
          <p:nvPr/>
        </p:nvSpPr>
        <p:spPr>
          <a:xfrm>
            <a:off x="640080" y="2103120"/>
            <a:ext cx="3337560" cy="8229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44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10%</a:t>
            </a:r>
          </a:p>
        </p:txBody>
      </p:sp>
      <p:sp>
        <p:nvSpPr>
          <p:cNvPr id="21" name="TextBox 19"/>
          <p:cNvSpPr txBox="1"/>
          <p:nvPr/>
        </p:nvSpPr>
        <p:spPr>
          <a:xfrm>
            <a:off x="640080" y="2926080"/>
            <a:ext cx="333756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מההכנסות</a:t>
            </a:r>
          </a:p>
        </p:txBody>
      </p:sp>
      <p:cxnSp>
        <p:nvCxnSpPr>
          <p:cNvPr id="22" name="Connector 20"/>
          <p:cNvCxnSpPr/>
          <p:nvPr/>
        </p:nvCxnSpPr>
        <p:spPr>
          <a:xfrm>
            <a:off x="1188720" y="3520440"/>
            <a:ext cx="2240280" cy="0"/>
          </a:xfrm>
          <a:prstGeom prst="line">
            <a:avLst/>
          </a:prstGeom>
          <a:ln w="12700">
            <a:solidFill>
              <a:srgbClr val="C9DDE0"/>
            </a:solidFill>
          </a:ln>
        </p:spPr>
      </p:cxnSp>
      <p:sp>
        <p:nvSpPr>
          <p:cNvPr id="23" name="TextBox 21"/>
          <p:cNvSpPr txBox="1"/>
          <p:nvPr/>
        </p:nvSpPr>
        <p:spPr>
          <a:xfrm>
            <a:off x="868680" y="3703320"/>
            <a:ext cx="288036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9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שירותי פרימיום</a:t>
            </a:r>
          </a:p>
        </p:txBody>
      </p:sp>
      <p:sp>
        <p:nvSpPr>
          <p:cNvPr id="24" name="TextBox 22"/>
          <p:cNvSpPr txBox="1"/>
          <p:nvPr/>
        </p:nvSpPr>
        <p:spPr>
          <a:xfrm>
            <a:off x="868680" y="4160520"/>
            <a:ext cx="288036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500" b="1" dirty="0">
                <a:solidFill>
                  <a:srgbClr val="B9770E"/>
                </a:solidFill>
                <a:latin typeface="Calibri"/>
                <a:ea typeface="Calibri"/>
                <a:cs typeface="Calibri"/>
              </a:rPr>
              <a:t>לפי הצעת מחיר</a:t>
            </a:r>
          </a:p>
        </p:txBody>
      </p:sp>
      <p:sp>
        <p:nvSpPr>
          <p:cNvPr id="25" name="TextBox 23"/>
          <p:cNvSpPr txBox="1"/>
          <p:nvPr/>
        </p:nvSpPr>
        <p:spPr>
          <a:xfrm>
            <a:off x="914400" y="4617720"/>
            <a:ext cx="2788920" cy="109728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התאמות אישיות, אינטגרציות ותמיכה מורחבת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תוכנית שיווק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ארבעה ערוצים מרכזיים לגיוס לקוחות בשנה הראשונה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6245352" y="1828800"/>
            <a:ext cx="5303520" cy="1920240"/>
          </a:xfrm>
          <a:prstGeom prst="roundRect">
            <a:avLst>
              <a:gd name="adj" fmla="val 2800"/>
            </a:avLst>
          </a:prstGeom>
          <a:solidFill>
            <a:srgbClr val="E6F0F1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Oval 4"/>
          <p:cNvSpPr/>
          <p:nvPr/>
        </p:nvSpPr>
        <p:spPr>
          <a:xfrm>
            <a:off x="10680192" y="21488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5" descr="book-0E5E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4210" y="2292858"/>
            <a:ext cx="352044" cy="352044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7616952" y="2103120"/>
            <a:ext cx="292608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8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תוכן וקידום אורגני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7616952" y="2606040"/>
            <a:ext cx="2926080" cy="91440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מדריכים, בלוג וסרטונים קצרים שמביאים תנועה קבועה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473952" y="2240280"/>
            <a:ext cx="1097280" cy="6400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28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25%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6473952" y="2834640"/>
            <a:ext cx="1097280" cy="3200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1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מהתקציב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640080" y="1828800"/>
            <a:ext cx="5303520" cy="1920240"/>
          </a:xfrm>
          <a:prstGeom prst="roundRect">
            <a:avLst>
              <a:gd name="adj" fmla="val 2800"/>
            </a:avLst>
          </a:prstGeom>
          <a:solidFill>
            <a:srgbClr val="E6F0F1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Oval 11"/>
          <p:cNvSpPr/>
          <p:nvPr/>
        </p:nvSpPr>
        <p:spPr>
          <a:xfrm>
            <a:off x="5074920" y="21488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2" descr="zap-0E5E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938" y="2292858"/>
            <a:ext cx="352044" cy="352044"/>
          </a:xfrm>
          <a:prstGeom prst="rect">
            <a:avLst/>
          </a:prstGeom>
        </p:spPr>
      </p:pic>
      <p:sp>
        <p:nvSpPr>
          <p:cNvPr id="15" name="TextBox 13"/>
          <p:cNvSpPr txBox="1"/>
          <p:nvPr/>
        </p:nvSpPr>
        <p:spPr>
          <a:xfrm>
            <a:off x="2011680" y="2103120"/>
            <a:ext cx="292608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8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קמפיינים ממומנים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2011680" y="2606040"/>
            <a:ext cx="2926080" cy="91440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גוגל ורשתות חברתיות, עם מדידה שבועית של עלות לליד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868680" y="2240280"/>
            <a:ext cx="1097280" cy="6400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28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40%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868680" y="2834640"/>
            <a:ext cx="1097280" cy="3200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1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מהתקציב</a:t>
            </a:r>
          </a:p>
        </p:txBody>
      </p:sp>
      <p:sp>
        <p:nvSpPr>
          <p:cNvPr id="19" name="Rounded Rectangle 17"/>
          <p:cNvSpPr/>
          <p:nvPr/>
        </p:nvSpPr>
        <p:spPr>
          <a:xfrm>
            <a:off x="6245352" y="4023360"/>
            <a:ext cx="5303520" cy="1920240"/>
          </a:xfrm>
          <a:prstGeom prst="roundRect">
            <a:avLst>
              <a:gd name="adj" fmla="val 2800"/>
            </a:avLst>
          </a:prstGeom>
          <a:solidFill>
            <a:srgbClr val="E6F0F1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Oval 18"/>
          <p:cNvSpPr/>
          <p:nvPr/>
        </p:nvSpPr>
        <p:spPr>
          <a:xfrm>
            <a:off x="10680192" y="43434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19" descr="users-0E5E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4210" y="4487418"/>
            <a:ext cx="352044" cy="352044"/>
          </a:xfrm>
          <a:prstGeom prst="rect">
            <a:avLst/>
          </a:prstGeom>
        </p:spPr>
      </p:pic>
      <p:sp>
        <p:nvSpPr>
          <p:cNvPr id="22" name="TextBox 20"/>
          <p:cNvSpPr txBox="1"/>
          <p:nvPr/>
        </p:nvSpPr>
        <p:spPr>
          <a:xfrm>
            <a:off x="7616952" y="4297680"/>
            <a:ext cx="292608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8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שיתופי פעולה</a:t>
            </a:r>
          </a:p>
        </p:txBody>
      </p:sp>
      <p:sp>
        <p:nvSpPr>
          <p:cNvPr id="23" name="TextBox 21"/>
          <p:cNvSpPr txBox="1"/>
          <p:nvPr/>
        </p:nvSpPr>
        <p:spPr>
          <a:xfrm>
            <a:off x="7616952" y="4800600"/>
            <a:ext cx="2926080" cy="91440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רואי חשבון, יועצים ואיגודים מקצועיים שמפנים לקוחות</a:t>
            </a:r>
          </a:p>
        </p:txBody>
      </p:sp>
      <p:sp>
        <p:nvSpPr>
          <p:cNvPr id="24" name="TextBox 22"/>
          <p:cNvSpPr txBox="1"/>
          <p:nvPr/>
        </p:nvSpPr>
        <p:spPr>
          <a:xfrm>
            <a:off x="6473952" y="4434840"/>
            <a:ext cx="1097280" cy="6400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28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25" name="TextBox 23"/>
          <p:cNvSpPr txBox="1"/>
          <p:nvPr/>
        </p:nvSpPr>
        <p:spPr>
          <a:xfrm>
            <a:off x="6473952" y="5029200"/>
            <a:ext cx="1097280" cy="3200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1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מהתקציב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640080" y="4023360"/>
            <a:ext cx="5303520" cy="1920240"/>
          </a:xfrm>
          <a:prstGeom prst="roundRect">
            <a:avLst>
              <a:gd name="adj" fmla="val 2800"/>
            </a:avLst>
          </a:prstGeom>
          <a:solidFill>
            <a:srgbClr val="E6F0F1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Oval 25"/>
          <p:cNvSpPr/>
          <p:nvPr/>
        </p:nvSpPr>
        <p:spPr>
          <a:xfrm>
            <a:off x="5074920" y="43434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6" descr="heart-0E5E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8938" y="4487418"/>
            <a:ext cx="352044" cy="352044"/>
          </a:xfrm>
          <a:prstGeom prst="rect">
            <a:avLst/>
          </a:prstGeom>
        </p:spPr>
      </p:pic>
      <p:sp>
        <p:nvSpPr>
          <p:cNvPr id="29" name="TextBox 27"/>
          <p:cNvSpPr txBox="1"/>
          <p:nvPr/>
        </p:nvSpPr>
        <p:spPr>
          <a:xfrm>
            <a:off x="2011680" y="4297680"/>
            <a:ext cx="292608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8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הפניות מלקוחות</a:t>
            </a:r>
          </a:p>
        </p:txBody>
      </p:sp>
      <p:sp>
        <p:nvSpPr>
          <p:cNvPr id="30" name="TextBox 28"/>
          <p:cNvSpPr txBox="1"/>
          <p:nvPr/>
        </p:nvSpPr>
        <p:spPr>
          <a:xfrm>
            <a:off x="2011680" y="4800600"/>
            <a:ext cx="2926080" cy="91440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תוכנית חבר-מביא-חבר עם הטבה לשני הצדדים</a:t>
            </a:r>
          </a:p>
        </p:txBody>
      </p:sp>
      <p:sp>
        <p:nvSpPr>
          <p:cNvPr id="31" name="TextBox 29"/>
          <p:cNvSpPr txBox="1"/>
          <p:nvPr/>
        </p:nvSpPr>
        <p:spPr>
          <a:xfrm>
            <a:off x="868680" y="4434840"/>
            <a:ext cx="1097280" cy="6400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28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15%</a:t>
            </a:r>
          </a:p>
        </p:txBody>
      </p:sp>
      <p:sp>
        <p:nvSpPr>
          <p:cNvPr id="32" name="TextBox 30"/>
          <p:cNvSpPr txBox="1"/>
          <p:nvPr/>
        </p:nvSpPr>
        <p:spPr>
          <a:xfrm>
            <a:off x="868680" y="5029200"/>
            <a:ext cx="1097280" cy="3200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1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מהתקציב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תחזית כספית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הכנסות מול הוצאות בשלוש השנים הראשונות (באלפי ₪)</a:t>
            </a:r>
          </a:p>
        </p:txBody>
      </p:sp>
      <p:graphicFrame>
        <p:nvGraphicFramePr>
          <p:cNvPr id="5" name="Chart 3"/>
          <p:cNvGraphicFramePr>
            <a:graphicFrameLocks noGrp="1"/>
          </p:cNvGraphicFramePr>
          <p:nvPr/>
        </p:nvGraphicFramePr>
        <p:xfrm>
          <a:off x="640080" y="169164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4"/>
          <p:cNvSpPr/>
          <p:nvPr/>
        </p:nvSpPr>
        <p:spPr>
          <a:xfrm>
            <a:off x="8001000" y="1691640"/>
            <a:ext cx="3547872" cy="4572000"/>
          </a:xfrm>
          <a:prstGeom prst="roundRect">
            <a:avLst>
              <a:gd name="adj" fmla="val 2800"/>
            </a:avLst>
          </a:prstGeom>
          <a:solidFill>
            <a:srgbClr val="E6F0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5"/>
          <p:cNvSpPr txBox="1"/>
          <p:nvPr/>
        </p:nvSpPr>
        <p:spPr>
          <a:xfrm>
            <a:off x="8001000" y="1965960"/>
            <a:ext cx="3547872" cy="6858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32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₪750K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8001000" y="2624328"/>
            <a:ext cx="354787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400" b="0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רווח תפעולי בשנה 3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8001000" y="3383280"/>
            <a:ext cx="3547872" cy="6858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32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פי 2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8001000" y="4041648"/>
            <a:ext cx="354787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400" b="0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צמיחה בהכנסות משנה לשנה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8001000" y="4800600"/>
            <a:ext cx="3547872" cy="6858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32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חודש 18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8001000" y="5458968"/>
            <a:ext cx="354787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400" b="0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נקודת האיזון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אבני דרך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היעדים המרכזיים בדרך לתוכנית — עדכנו תאריכים לפי הקצב שלכם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1234440" y="3977639"/>
            <a:ext cx="9509760" cy="0"/>
          </a:xfrm>
          <a:prstGeom prst="line">
            <a:avLst/>
          </a:prstGeom>
          <a:ln w="38100">
            <a:solidFill>
              <a:srgbClr val="D4E3E5"/>
            </a:solidFill>
          </a:ln>
        </p:spPr>
      </p:cxnSp>
      <p:sp>
        <p:nvSpPr>
          <p:cNvPr id="6" name="Rounded Rectangle 4"/>
          <p:cNvSpPr/>
          <p:nvPr/>
        </p:nvSpPr>
        <p:spPr>
          <a:xfrm>
            <a:off x="9966960" y="2788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5"/>
          <p:cNvSpPr txBox="1"/>
          <p:nvPr/>
        </p:nvSpPr>
        <p:spPr>
          <a:xfrm>
            <a:off x="9966960" y="2788920"/>
            <a:ext cx="155448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1300" b="1" dirty="0">
                <a:solidFill>
                  <a:srgbClr val="0A3A44"/>
                </a:solidFill>
                <a:latin typeface="Calibri"/>
                <a:ea typeface="Calibri"/>
                <a:cs typeface="Calibri"/>
              </a:rPr>
              <a:t>Q1 2027</a:t>
            </a:r>
          </a:p>
        </p:txBody>
      </p:sp>
      <p:sp>
        <p:nvSpPr>
          <p:cNvPr id="8" name="Oval 6"/>
          <p:cNvSpPr/>
          <p:nvPr/>
        </p:nvSpPr>
        <p:spPr>
          <a:xfrm>
            <a:off x="10451592" y="3685032"/>
            <a:ext cx="585216" cy="585216"/>
          </a:xfrm>
          <a:prstGeom prst="ellipse">
            <a:avLst/>
          </a:prstGeom>
          <a:solidFill>
            <a:srgbClr val="0E5E6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7"/>
          <p:cNvSpPr txBox="1"/>
          <p:nvPr/>
        </p:nvSpPr>
        <p:spPr>
          <a:xfrm>
            <a:off x="10451592" y="3685032"/>
            <a:ext cx="585216" cy="585216"/>
          </a:xfrm>
          <a:prstGeom prst="rect">
            <a:avLst/>
          </a:prstGeom>
          <a:noFill/>
        </p:spPr>
        <p:txBody>
          <a:bodyPr wrap="square" anchor="ctr" rtlCol="0" lIns="0" rIns="0" tIns="0" bIns="0">
            <a:spAutoFit/>
          </a:bodyPr>
          <a:lstStyle/>
          <a:p>
            <a:pPr algn="ctr" indent="0" marL="0" rtl="1">
              <a:buNone/>
            </a:pPr>
            <a:r>
              <a:rPr lang="he-IL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9646920" y="4480560"/>
            <a:ext cx="219456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7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השקת המוצר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9646920" y="4892040"/>
            <a:ext cx="219456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גרסה ראשונה ללקוחות פיילוט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589520" y="2788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E6F0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1"/>
          <p:cNvSpPr txBox="1"/>
          <p:nvPr/>
        </p:nvSpPr>
        <p:spPr>
          <a:xfrm>
            <a:off x="7589520" y="2788920"/>
            <a:ext cx="155448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13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Q3 2027</a:t>
            </a:r>
          </a:p>
        </p:txBody>
      </p:sp>
      <p:sp>
        <p:nvSpPr>
          <p:cNvPr id="14" name="Oval 12"/>
          <p:cNvSpPr/>
          <p:nvPr/>
        </p:nvSpPr>
        <p:spPr>
          <a:xfrm>
            <a:off x="8074152" y="3685032"/>
            <a:ext cx="585216" cy="585216"/>
          </a:xfrm>
          <a:prstGeom prst="ellipse">
            <a:avLst/>
          </a:prstGeom>
          <a:solidFill>
            <a:srgbClr val="0E5E6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3"/>
          <p:cNvSpPr txBox="1"/>
          <p:nvPr/>
        </p:nvSpPr>
        <p:spPr>
          <a:xfrm>
            <a:off x="8074152" y="3685032"/>
            <a:ext cx="585216" cy="585216"/>
          </a:xfrm>
          <a:prstGeom prst="rect">
            <a:avLst/>
          </a:prstGeom>
          <a:noFill/>
        </p:spPr>
        <p:txBody>
          <a:bodyPr wrap="square" anchor="ctr" rtlCol="0" lIns="0" rIns="0" tIns="0" bIns="0">
            <a:spAutoFit/>
          </a:bodyPr>
          <a:lstStyle/>
          <a:p>
            <a:pPr algn="ctr" indent="0" marL="0" rtl="1">
              <a:buNone/>
            </a:pPr>
            <a:r>
              <a:rPr lang="he-IL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7269480" y="4480560"/>
            <a:ext cx="219456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7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100 לקוחות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7269480" y="4892040"/>
            <a:ext cx="219456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לקוחות משלמים ראשונים</a:t>
            </a:r>
          </a:p>
        </p:txBody>
      </p:sp>
      <p:sp>
        <p:nvSpPr>
          <p:cNvPr id="18" name="Rounded Rectangle 16"/>
          <p:cNvSpPr/>
          <p:nvPr/>
        </p:nvSpPr>
        <p:spPr>
          <a:xfrm>
            <a:off x="5212080" y="2788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E6F0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7"/>
          <p:cNvSpPr txBox="1"/>
          <p:nvPr/>
        </p:nvSpPr>
        <p:spPr>
          <a:xfrm>
            <a:off x="5212080" y="2788920"/>
            <a:ext cx="155448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13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Q1 2028</a:t>
            </a:r>
          </a:p>
        </p:txBody>
      </p:sp>
      <p:sp>
        <p:nvSpPr>
          <p:cNvPr id="20" name="Oval 18"/>
          <p:cNvSpPr/>
          <p:nvPr/>
        </p:nvSpPr>
        <p:spPr>
          <a:xfrm>
            <a:off x="5696712" y="3685032"/>
            <a:ext cx="585216" cy="585216"/>
          </a:xfrm>
          <a:prstGeom prst="ellipse">
            <a:avLst/>
          </a:prstGeom>
          <a:solidFill>
            <a:srgbClr val="0E5E6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19"/>
          <p:cNvSpPr txBox="1"/>
          <p:nvPr/>
        </p:nvSpPr>
        <p:spPr>
          <a:xfrm>
            <a:off x="5696712" y="3685032"/>
            <a:ext cx="585216" cy="585216"/>
          </a:xfrm>
          <a:prstGeom prst="rect">
            <a:avLst/>
          </a:prstGeom>
          <a:noFill/>
        </p:spPr>
        <p:txBody>
          <a:bodyPr wrap="square" anchor="ctr" rtlCol="0" lIns="0" rIns="0" tIns="0" bIns="0">
            <a:spAutoFit/>
          </a:bodyPr>
          <a:lstStyle/>
          <a:p>
            <a:pPr algn="ctr" indent="0" marL="0" rtl="1">
              <a:buNone/>
            </a:pPr>
            <a:r>
              <a:rPr lang="he-IL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4892040" y="4480560"/>
            <a:ext cx="219456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7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נקודת איזון</a:t>
            </a:r>
          </a:p>
        </p:txBody>
      </p:sp>
      <p:sp>
        <p:nvSpPr>
          <p:cNvPr id="23" name="TextBox 21"/>
          <p:cNvSpPr txBox="1"/>
          <p:nvPr/>
        </p:nvSpPr>
        <p:spPr>
          <a:xfrm>
            <a:off x="4892040" y="4892040"/>
            <a:ext cx="219456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ההכנסות מכסות את ההוצאות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2834640" y="2788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E6F0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3"/>
          <p:cNvSpPr txBox="1"/>
          <p:nvPr/>
        </p:nvSpPr>
        <p:spPr>
          <a:xfrm>
            <a:off x="2834640" y="2788920"/>
            <a:ext cx="155448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13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Q3 2028</a:t>
            </a:r>
          </a:p>
        </p:txBody>
      </p:sp>
      <p:sp>
        <p:nvSpPr>
          <p:cNvPr id="26" name="Oval 24"/>
          <p:cNvSpPr/>
          <p:nvPr/>
        </p:nvSpPr>
        <p:spPr>
          <a:xfrm>
            <a:off x="3319272" y="3685032"/>
            <a:ext cx="585216" cy="585216"/>
          </a:xfrm>
          <a:prstGeom prst="ellipse">
            <a:avLst/>
          </a:prstGeom>
          <a:solidFill>
            <a:srgbClr val="0E5E6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5"/>
          <p:cNvSpPr txBox="1"/>
          <p:nvPr/>
        </p:nvSpPr>
        <p:spPr>
          <a:xfrm>
            <a:off x="3319272" y="3685032"/>
            <a:ext cx="585216" cy="585216"/>
          </a:xfrm>
          <a:prstGeom prst="rect">
            <a:avLst/>
          </a:prstGeom>
          <a:noFill/>
        </p:spPr>
        <p:txBody>
          <a:bodyPr wrap="square" anchor="ctr" rtlCol="0" lIns="0" rIns="0" tIns="0" bIns="0">
            <a:spAutoFit/>
          </a:bodyPr>
          <a:lstStyle/>
          <a:p>
            <a:pPr algn="ctr" indent="0" marL="0" rtl="1">
              <a:buNone/>
            </a:pPr>
            <a:r>
              <a:rPr lang="he-IL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8" name="TextBox 26"/>
          <p:cNvSpPr txBox="1"/>
          <p:nvPr/>
        </p:nvSpPr>
        <p:spPr>
          <a:xfrm>
            <a:off x="2514600" y="4480560"/>
            <a:ext cx="219456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7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הרחבת הצוות</a:t>
            </a:r>
          </a:p>
        </p:txBody>
      </p:sp>
      <p:sp>
        <p:nvSpPr>
          <p:cNvPr id="29" name="TextBox 27"/>
          <p:cNvSpPr txBox="1"/>
          <p:nvPr/>
        </p:nvSpPr>
        <p:spPr>
          <a:xfrm>
            <a:off x="2514600" y="4892040"/>
            <a:ext cx="219456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גיוס של 6 עובדים נוספים</a:t>
            </a:r>
          </a:p>
        </p:txBody>
      </p:sp>
      <p:sp>
        <p:nvSpPr>
          <p:cNvPr id="30" name="Rounded Rectangle 28"/>
          <p:cNvSpPr/>
          <p:nvPr/>
        </p:nvSpPr>
        <p:spPr>
          <a:xfrm>
            <a:off x="457200" y="2788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E6F0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29"/>
          <p:cNvSpPr txBox="1"/>
          <p:nvPr/>
        </p:nvSpPr>
        <p:spPr>
          <a:xfrm>
            <a:off x="457200" y="2788920"/>
            <a:ext cx="155448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1300" b="1" dirty="0">
                <a:solidFill>
                  <a:srgbClr val="0E5E6B"/>
                </a:solidFill>
                <a:latin typeface="Calibri"/>
                <a:ea typeface="Calibri"/>
                <a:cs typeface="Calibri"/>
              </a:rPr>
              <a:t>2029</a:t>
            </a:r>
          </a:p>
        </p:txBody>
      </p:sp>
      <p:sp>
        <p:nvSpPr>
          <p:cNvPr id="32" name="Oval 30"/>
          <p:cNvSpPr/>
          <p:nvPr/>
        </p:nvSpPr>
        <p:spPr>
          <a:xfrm>
            <a:off x="941832" y="3685032"/>
            <a:ext cx="585216" cy="585216"/>
          </a:xfrm>
          <a:prstGeom prst="ellipse">
            <a:avLst/>
          </a:prstGeom>
          <a:solidFill>
            <a:srgbClr val="0E5E6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1"/>
          <p:cNvSpPr txBox="1"/>
          <p:nvPr/>
        </p:nvSpPr>
        <p:spPr>
          <a:xfrm>
            <a:off x="941832" y="3685032"/>
            <a:ext cx="585216" cy="585216"/>
          </a:xfrm>
          <a:prstGeom prst="rect">
            <a:avLst/>
          </a:prstGeom>
          <a:noFill/>
        </p:spPr>
        <p:txBody>
          <a:bodyPr wrap="square" anchor="ctr" rtlCol="0" lIns="0" rIns="0" tIns="0" bIns="0">
            <a:spAutoFit/>
          </a:bodyPr>
          <a:lstStyle/>
          <a:p>
            <a:pPr algn="ctr" indent="0" marL="0" rtl="1">
              <a:buNone/>
            </a:pPr>
            <a:r>
              <a:rPr lang="he-IL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4" name="TextBox 32"/>
          <p:cNvSpPr txBox="1"/>
          <p:nvPr/>
        </p:nvSpPr>
        <p:spPr>
          <a:xfrm>
            <a:off x="137160" y="4480560"/>
            <a:ext cx="219456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700" b="1" dirty="0">
                <a:solidFill>
                  <a:srgbClr val="1E2B2F"/>
                </a:solidFill>
                <a:latin typeface="Calibri"/>
                <a:ea typeface="Calibri"/>
                <a:cs typeface="Calibri"/>
              </a:rPr>
              <a:t>שוק חדש</a:t>
            </a:r>
          </a:p>
        </p:txBody>
      </p:sp>
      <p:sp>
        <p:nvSpPr>
          <p:cNvPr id="35" name="TextBox 33"/>
          <p:cNvSpPr txBox="1"/>
          <p:nvPr/>
        </p:nvSpPr>
        <p:spPr>
          <a:xfrm>
            <a:off x="137160" y="4892040"/>
            <a:ext cx="219456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66767B"/>
                </a:solidFill>
                <a:latin typeface="Calibri"/>
                <a:ea typeface="Calibri"/>
                <a:cs typeface="Calibri"/>
              </a:rPr>
              <a:t>כניסה לתחום פעילות נוסף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A44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Oval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7707E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7707E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914400" y="1280160"/>
            <a:ext cx="10360152" cy="8229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בואו נדבר על התוכנית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914400" y="2103120"/>
            <a:ext cx="10360152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600" b="0" dirty="0">
                <a:solidFill>
                  <a:srgbClr val="D5E7EA"/>
                </a:solidFill>
                <a:latin typeface="Calibri"/>
                <a:ea typeface="Calibri"/>
                <a:cs typeface="Calibri"/>
              </a:rPr>
              <a:t>נשמח לשמוע שאלות, הערות ורעיונות — ולהציג את הפרטים המלאים</a:t>
            </a:r>
          </a:p>
        </p:txBody>
      </p:sp>
      <p:sp>
        <p:nvSpPr>
          <p:cNvPr id="7" name="Oval 5"/>
          <p:cNvSpPr/>
          <p:nvPr/>
        </p:nvSpPr>
        <p:spPr>
          <a:xfrm>
            <a:off x="9025128" y="3566160"/>
            <a:ext cx="731520" cy="731520"/>
          </a:xfrm>
          <a:prstGeom prst="ellipse">
            <a:avLst/>
          </a:prstGeom>
          <a:solidFill>
            <a:srgbClr val="1B55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6" descr="phone-F2A9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007" y="3749039"/>
            <a:ext cx="365760" cy="365760"/>
          </a:xfrm>
          <a:prstGeom prst="rect">
            <a:avLst/>
          </a:prstGeom>
        </p:spPr>
      </p:pic>
      <p:sp>
        <p:nvSpPr>
          <p:cNvPr id="9" name="TextBox 7"/>
          <p:cNvSpPr txBox="1"/>
          <p:nvPr/>
        </p:nvSpPr>
        <p:spPr>
          <a:xfrm>
            <a:off x="7927848" y="4434840"/>
            <a:ext cx="292608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14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050-1234567</a:t>
            </a:r>
          </a:p>
        </p:txBody>
      </p:sp>
      <p:sp>
        <p:nvSpPr>
          <p:cNvPr id="10" name="Oval 8"/>
          <p:cNvSpPr/>
          <p:nvPr/>
        </p:nvSpPr>
        <p:spPr>
          <a:xfrm>
            <a:off x="5733288" y="3566160"/>
            <a:ext cx="731520" cy="731520"/>
          </a:xfrm>
          <a:prstGeom prst="ellipse">
            <a:avLst/>
          </a:prstGeom>
          <a:solidFill>
            <a:srgbClr val="1B55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9" descr="mail-F2A9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3749039"/>
            <a:ext cx="365760" cy="365760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4636008" y="4434840"/>
            <a:ext cx="292608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14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info@yourbusiness.co.il</a:t>
            </a:r>
          </a:p>
        </p:txBody>
      </p:sp>
      <p:sp>
        <p:nvSpPr>
          <p:cNvPr id="13" name="Oval 11"/>
          <p:cNvSpPr/>
          <p:nvPr/>
        </p:nvSpPr>
        <p:spPr>
          <a:xfrm>
            <a:off x="2441447" y="3566160"/>
            <a:ext cx="731520" cy="731520"/>
          </a:xfrm>
          <a:prstGeom prst="ellipse">
            <a:avLst/>
          </a:prstGeom>
          <a:solidFill>
            <a:srgbClr val="1B55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2" descr="globe-F2A9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7" y="3749039"/>
            <a:ext cx="365760" cy="365760"/>
          </a:xfrm>
          <a:prstGeom prst="rect">
            <a:avLst/>
          </a:prstGeom>
        </p:spPr>
      </p:pic>
      <p:sp>
        <p:nvSpPr>
          <p:cNvPr id="15" name="TextBox 13"/>
          <p:cNvSpPr txBox="1"/>
          <p:nvPr/>
        </p:nvSpPr>
        <p:spPr>
          <a:xfrm>
            <a:off x="1344167" y="4434840"/>
            <a:ext cx="292608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14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www.yourbusiness.co.il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