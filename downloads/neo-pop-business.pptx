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762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400" b="1" i="0">
                <a:solidFill>
                  <a:srgbClr val="000000"/>
                </a:solidFill>
                <a:latin typeface="Calibri"/>
              </a:rPr>
              <a:t>שם העסק שלכם</a:t>
            </a:r>
          </a:p>
        </p:txBody>
      </p:sp>
      <p:sp>
        <p:nvSpPr>
          <p:cNvPr id="4" name="Oval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A4B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4572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6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977639"/>
            <a:ext cx="4114800" cy="6858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3977639"/>
            <a:ext cx="4114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i="0">
                <a:solidFill>
                  <a:srgbClr val="E8FF3D"/>
                </a:solidFill>
                <a:latin typeface="Calibri"/>
              </a:rPr>
              <a:t>מצגת עסקית שמרימה אנרגיה</a:t>
            </a:r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762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3474720" cy="777240"/>
          </a:xfrm>
          <a:prstGeom prst="rect">
            <a:avLst/>
          </a:prstGeom>
          <a:solidFill>
            <a:srgbClr val="2A4B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3474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200" b="1" i="0">
                <a:solidFill>
                  <a:srgbClr val="FFFFFF"/>
                </a:solidFill>
                <a:latin typeface="Calibri"/>
              </a:rPr>
              <a:t>מי אנחנו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</a:rPr>
              <a:t>אנחנו לא עוד עסק אפור. אנחנו כאן כדי לעורר, להפתיע ולגרום לכם להרגיש משהו. כל פרויקט הוא הזדמנות לעשות את זה אחרת — בגדול, בצבע ובלי פחד.</a:t>
            </a:r>
          </a:p>
        </p:txBody>
      </p:sp>
      <p:sp>
        <p:nvSpPr>
          <p:cNvPr id="6" name="Oval 5"/>
          <p:cNvSpPr/>
          <p:nvPr/>
        </p:nvSpPr>
        <p:spPr>
          <a:xfrm>
            <a:off x="9418320" y="4206240"/>
            <a:ext cx="1828800" cy="1828800"/>
          </a:xfrm>
          <a:prstGeom prst="ellipse">
            <a:avLst/>
          </a:prstGeom>
          <a:solidFill>
            <a:srgbClr val="E8FF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4206240"/>
            <a:ext cx="1828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4000" b="1" i="0">
                <a:solidFill>
                  <a:srgbClr val="000000"/>
                </a:solidFill>
                <a:latin typeface="Calibri"/>
              </a:rPr>
              <a:t>★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B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2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  <a:latin typeface="Calibri"/>
              </a:rPr>
              <a:t>מה אנחנו עושים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8165592" y="1828800"/>
            <a:ext cx="3200400" cy="3291840"/>
          </a:xfrm>
          <a:prstGeom prst="roundRect">
            <a:avLst/>
          </a:prstGeom>
          <a:solidFill>
            <a:srgbClr val="E8FF3D"/>
          </a:solidFill>
          <a:ln w="635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8165592" y="2148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40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8394192" y="30175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יצירה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8394192" y="37033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0" i="0">
                <a:solidFill>
                  <a:srgbClr val="000000"/>
                </a:solidFill>
                <a:latin typeface="Calibri"/>
              </a:rPr>
              <a:t>רעיונות נועזים ועיצוב שאי אפשר לפספס</a:t>
            </a:r>
          </a:p>
        </p:txBody>
      </p:sp>
      <p:sp>
        <p:nvSpPr>
          <p:cNvPr id="9" name="Rounded Rectangle 6"/>
          <p:cNvSpPr/>
          <p:nvPr/>
        </p:nvSpPr>
        <p:spPr>
          <a:xfrm>
            <a:off x="4599432" y="1828800"/>
            <a:ext cx="3200400" cy="3291840"/>
          </a:xfrm>
          <a:prstGeom prst="roundRect">
            <a:avLst/>
          </a:prstGeom>
          <a:solidFill>
            <a:srgbClr val="FF7A1A"/>
          </a:solidFill>
          <a:ln w="635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7"/>
          <p:cNvSpPr txBox="1"/>
          <p:nvPr/>
        </p:nvSpPr>
        <p:spPr>
          <a:xfrm>
            <a:off x="4599432" y="2148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40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11" name="TextBox 8"/>
          <p:cNvSpPr txBox="1"/>
          <p:nvPr/>
        </p:nvSpPr>
        <p:spPr>
          <a:xfrm>
            <a:off x="4828032" y="30175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אסטרטגיה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4828032" y="37033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0" i="0">
                <a:solidFill>
                  <a:srgbClr val="000000"/>
                </a:solidFill>
                <a:latin typeface="Calibri"/>
              </a:rPr>
              <a:t>תוכנית חכמה שמכוונת בדיוק לקהל שלכם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1033272" y="1828800"/>
            <a:ext cx="3200400" cy="3291840"/>
          </a:xfrm>
          <a:prstGeom prst="roundRect">
            <a:avLst/>
          </a:prstGeom>
          <a:solidFill>
            <a:srgbClr val="E8FF3D"/>
          </a:solidFill>
          <a:ln w="635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0"/>
          <p:cNvSpPr txBox="1"/>
          <p:nvPr/>
        </p:nvSpPr>
        <p:spPr>
          <a:xfrm>
            <a:off x="1033272" y="2148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40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1261872" y="30175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ביצוע</a:t>
            </a:r>
          </a:p>
        </p:txBody>
      </p:sp>
      <p:sp>
        <p:nvSpPr>
          <p:cNvPr id="16" name="TextBox 11"/>
          <p:cNvSpPr txBox="1"/>
          <p:nvPr/>
        </p:nvSpPr>
        <p:spPr>
          <a:xfrm>
            <a:off x="1261872" y="37033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0" i="0">
                <a:solidFill>
                  <a:srgbClr val="000000"/>
                </a:solidFill>
                <a:latin typeface="Calibri"/>
              </a:rPr>
              <a:t>מהרעיון לביצוע — מהר, מדויק ובלי תירוצים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762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1" i="0">
                <a:solidFill>
                  <a:srgbClr val="000000"/>
                </a:solidFill>
                <a:latin typeface="Calibri"/>
              </a:rPr>
              <a:t>המספרים שלנו</a:t>
            </a:r>
          </a:p>
        </p:txBody>
      </p:sp>
      <p:sp>
        <p:nvSpPr>
          <p:cNvPr id="4" name="Oval 3"/>
          <p:cNvSpPr/>
          <p:nvPr/>
        </p:nvSpPr>
        <p:spPr>
          <a:xfrm>
            <a:off x="1234440" y="2194560"/>
            <a:ext cx="1554480" cy="1554480"/>
          </a:xfrm>
          <a:prstGeom prst="ellipse">
            <a:avLst/>
          </a:prstGeom>
          <a:solidFill>
            <a:srgbClr val="FF7A1A"/>
          </a:solidFill>
          <a:ln w="635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060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600" b="1" i="0">
                <a:solidFill>
                  <a:srgbClr val="FFFFFF"/>
                </a:solidFill>
                <a:latin typeface="Calibri"/>
              </a:rPr>
              <a:t>150+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 i="0">
                <a:solidFill>
                  <a:srgbClr val="000000"/>
                </a:solidFill>
                <a:latin typeface="Calibri"/>
              </a:rPr>
              <a:t>לקוחות מרוצים</a:t>
            </a:r>
          </a:p>
        </p:txBody>
      </p:sp>
      <p:sp>
        <p:nvSpPr>
          <p:cNvPr id="7" name="Oval 6"/>
          <p:cNvSpPr/>
          <p:nvPr/>
        </p:nvSpPr>
        <p:spPr>
          <a:xfrm>
            <a:off x="5074920" y="2194560"/>
            <a:ext cx="1554480" cy="1554480"/>
          </a:xfrm>
          <a:prstGeom prst="ellipse">
            <a:avLst/>
          </a:prstGeom>
          <a:solidFill>
            <a:srgbClr val="2A4BFF"/>
          </a:solidFill>
          <a:ln w="635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26060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600" b="1" i="0">
                <a:solidFill>
                  <a:srgbClr val="FFFFFF"/>
                </a:solidFill>
                <a:latin typeface="Calibri"/>
              </a:rPr>
              <a:t>4.9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977639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 i="0">
                <a:solidFill>
                  <a:srgbClr val="000000"/>
                </a:solidFill>
                <a:latin typeface="Calibri"/>
              </a:rPr>
              <a:t>דירוג ממוצע</a:t>
            </a:r>
          </a:p>
        </p:txBody>
      </p:sp>
      <p:sp>
        <p:nvSpPr>
          <p:cNvPr id="10" name="Oval 9"/>
          <p:cNvSpPr/>
          <p:nvPr/>
        </p:nvSpPr>
        <p:spPr>
          <a:xfrm>
            <a:off x="8915400" y="2194560"/>
            <a:ext cx="1554480" cy="1554480"/>
          </a:xfrm>
          <a:prstGeom prst="ellipse">
            <a:avLst/>
          </a:prstGeom>
          <a:solidFill>
            <a:srgbClr val="000000"/>
          </a:solidFill>
          <a:ln w="635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6060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600" b="1" i="0">
                <a:solidFill>
                  <a:srgbClr val="FFFFFF"/>
                </a:solidFill>
                <a:latin typeface="Calibri"/>
              </a:rPr>
              <a:t>x3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977639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 i="0">
                <a:solidFill>
                  <a:srgbClr val="000000"/>
                </a:solidFill>
                <a:latin typeface="Calibri"/>
              </a:rPr>
              <a:t>צמיחה בשנה האחרונה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762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Calibri"/>
              </a:rPr>
              <a:t>למה אנחנו?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1920240"/>
            <a:ext cx="502920" cy="502920"/>
          </a:xfrm>
          <a:prstGeom prst="ellipse">
            <a:avLst/>
          </a:prstGeom>
          <a:solidFill>
            <a:srgbClr val="E8FF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920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אנרגיה שאי אפשר להתעלם ממנה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834640"/>
            <a:ext cx="502920" cy="502920"/>
          </a:xfrm>
          <a:prstGeom prst="ellipse">
            <a:avLst/>
          </a:prstGeom>
          <a:solidFill>
            <a:srgbClr val="E8FF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834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תוצאות שמדברות בעד עצמן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3749040"/>
            <a:ext cx="502920" cy="502920"/>
          </a:xfrm>
          <a:prstGeom prst="ellipse">
            <a:avLst/>
          </a:prstGeom>
          <a:solidFill>
            <a:srgbClr val="E8FF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3749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7328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צוות שבאמת אוהב את מה שהוא עושה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0" y="4663440"/>
            <a:ext cx="502920" cy="502920"/>
          </a:xfrm>
          <a:prstGeom prst="ellipse">
            <a:avLst/>
          </a:prstGeom>
          <a:solidFill>
            <a:srgbClr val="E8FF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4663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00000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81728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אפס שעמום, המון תוצאות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76200">
            <a:solidFill>
              <a:srgbClr val="E8F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2103120"/>
            <a:ext cx="7616952" cy="2560320"/>
          </a:xfrm>
          <a:prstGeom prst="roundRect">
            <a:avLst/>
          </a:prstGeom>
          <a:solidFill>
            <a:srgbClr val="E8FF3D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51760" y="246888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3800" b="1" i="0">
                <a:solidFill>
                  <a:srgbClr val="000000"/>
                </a:solidFill>
                <a:latin typeface="Calibri"/>
              </a:rPr>
              <a:t>בואו נדבר!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342900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1" i="0">
                <a:solidFill>
                  <a:srgbClr val="000000"/>
                </a:solidFill>
                <a:latin typeface="Calibri"/>
              </a:rPr>
              <a:t>hello@yourbusiness.co.il · 050-000-0000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