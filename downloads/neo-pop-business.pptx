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F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762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60152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5400" b="1" i="0">
                <a:solidFill>
                  <a:srgbClr val="000000"/>
                </a:solidFill>
                <a:latin typeface="Calibri"/>
              </a:rPr>
              <a:t>שם העסק שלכם</a:t>
            </a:r>
          </a:p>
        </p:txBody>
      </p:sp>
      <p:sp>
        <p:nvSpPr>
          <p:cNvPr id="4" name="Oval 3"/>
          <p:cNvSpPr/>
          <p:nvPr/>
        </p:nvSpPr>
        <p:spPr>
          <a:xfrm>
            <a:off x="9692640" y="457200"/>
            <a:ext cx="1554480" cy="1554480"/>
          </a:xfrm>
          <a:prstGeom prst="ellipse">
            <a:avLst/>
          </a:prstGeom>
          <a:solidFill>
            <a:srgbClr val="2A4BFF"/>
          </a:solidFill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4572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/>
            <a:r>
              <a:rPr sz="1600" b="1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0" y="3977639"/>
            <a:ext cx="4114800" cy="685800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3977639"/>
            <a:ext cx="4114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/>
            <a:r>
              <a:rPr sz="1500" b="1" i="0">
                <a:solidFill>
                  <a:srgbClr val="E8FF3D"/>
                </a:solidFill>
                <a:latin typeface="Calibri"/>
              </a:rPr>
              <a:t>מצגת עסקית שמרימה אנרגיה</a:t>
            </a:r>
          </a:p>
        </p:txBody>
      </p:sp>
    </p:spTree>
  </p:cSld>
  <p:clrMapOvr>
    <a:masterClrMapping/>
  </p:clrMapOvr>
  <p:transition spd="med">
    <p:push dir="l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762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731520"/>
            <a:ext cx="3474720" cy="777240"/>
          </a:xfrm>
          <a:prstGeom prst="rect">
            <a:avLst/>
          </a:prstGeom>
          <a:solidFill>
            <a:srgbClr val="2A4BFF"/>
          </a:solidFill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31520"/>
            <a:ext cx="3474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/>
            <a:r>
              <a:rPr sz="2200" b="1" i="0">
                <a:solidFill>
                  <a:srgbClr val="FFFFFF"/>
                </a:solidFill>
                <a:latin typeface="Calibri"/>
              </a:rPr>
              <a:t>מי אנחנו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</a:rPr>
              <a:t>אנחנו לא עוד עסק אפור. אנחנו כאן כדי לזעזע, להפתיע ולגרום לכם להרגיש משהו. כל פרויקט הוא הזדמנות לעשות את זה אחרת — בגדול, בצבעוני, ובלי פחד.</a:t>
            </a:r>
          </a:p>
        </p:txBody>
      </p:sp>
      <p:sp>
        <p:nvSpPr>
          <p:cNvPr id="6" name="Oval 5"/>
          <p:cNvSpPr/>
          <p:nvPr/>
        </p:nvSpPr>
        <p:spPr>
          <a:xfrm>
            <a:off x="9418320" y="4206240"/>
            <a:ext cx="1828800" cy="1828800"/>
          </a:xfrm>
          <a:prstGeom prst="ellipse">
            <a:avLst/>
          </a:prstGeom>
          <a:solidFill>
            <a:srgbClr val="E8FF3D"/>
          </a:solidFill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4206240"/>
            <a:ext cx="18288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/>
            <a:r>
              <a:rPr sz="4000" b="1" i="0">
                <a:solidFill>
                  <a:srgbClr val="000000"/>
                </a:solidFill>
                <a:latin typeface="Calibri"/>
              </a:rPr>
              <a:t>★</a:t>
            </a:r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4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762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/>
            <a:r>
              <a:rPr sz="3000" b="1" i="0">
                <a:solidFill>
                  <a:srgbClr val="FFFFFF"/>
                </a:solidFill>
                <a:latin typeface="Calibri"/>
              </a:rPr>
              <a:t>מה אנחנו עושים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65592" y="1828800"/>
            <a:ext cx="3200400" cy="3291840"/>
          </a:xfrm>
          <a:prstGeom prst="roundRect">
            <a:avLst/>
          </a:prstGeom>
          <a:solidFill>
            <a:srgbClr val="E8FF3D"/>
          </a:solidFill>
          <a:ln w="635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65592" y="2148840"/>
            <a:ext cx="3200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4000" b="1" i="0">
                <a:solidFill>
                  <a:srgbClr val="000000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94192" y="402336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2000" b="1" i="0">
                <a:solidFill>
                  <a:srgbClr val="000000"/>
                </a:solidFill>
                <a:latin typeface="Calibri"/>
              </a:rPr>
              <a:t>יצירה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99432" y="1828800"/>
            <a:ext cx="3200400" cy="3291840"/>
          </a:xfrm>
          <a:prstGeom prst="roundRect">
            <a:avLst/>
          </a:prstGeom>
          <a:solidFill>
            <a:srgbClr val="FF7A1A"/>
          </a:solidFill>
          <a:ln w="635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9432" y="2148840"/>
            <a:ext cx="3200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4000" b="1" i="0">
                <a:solidFill>
                  <a:srgbClr val="000000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8032" y="402336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2000" b="1" i="0">
                <a:solidFill>
                  <a:srgbClr val="000000"/>
                </a:solidFill>
                <a:latin typeface="Calibri"/>
              </a:rPr>
              <a:t>אסטרטגיה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33272" y="1828800"/>
            <a:ext cx="3200400" cy="3291840"/>
          </a:xfrm>
          <a:prstGeom prst="roundRect">
            <a:avLst/>
          </a:prstGeom>
          <a:solidFill>
            <a:srgbClr val="E8FF3D"/>
          </a:solidFill>
          <a:ln w="635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148840"/>
            <a:ext cx="3200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4000" b="1" i="0">
                <a:solidFill>
                  <a:srgbClr val="000000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402336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2000" b="1" i="0">
                <a:solidFill>
                  <a:srgbClr val="000000"/>
                </a:solidFill>
                <a:latin typeface="Calibri"/>
              </a:rPr>
              <a:t>ביצוע</a:t>
            </a:r>
          </a:p>
        </p:txBody>
      </p:sp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F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762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/>
            <a:r>
              <a:rPr sz="3000" b="1" i="0">
                <a:solidFill>
                  <a:srgbClr val="000000"/>
                </a:solidFill>
                <a:latin typeface="Calibri"/>
              </a:rPr>
              <a:t>המספרים שלנו</a:t>
            </a:r>
          </a:p>
        </p:txBody>
      </p:sp>
      <p:sp>
        <p:nvSpPr>
          <p:cNvPr id="4" name="Oval 3"/>
          <p:cNvSpPr/>
          <p:nvPr/>
        </p:nvSpPr>
        <p:spPr>
          <a:xfrm>
            <a:off x="1234440" y="2194560"/>
            <a:ext cx="1554480" cy="1554480"/>
          </a:xfrm>
          <a:prstGeom prst="ellipse">
            <a:avLst/>
          </a:prstGeom>
          <a:solidFill>
            <a:srgbClr val="FF7A1A"/>
          </a:solidFill>
          <a:ln w="635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606040"/>
            <a:ext cx="1554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2600" b="1" i="0">
                <a:solidFill>
                  <a:srgbClr val="FFFFFF"/>
                </a:solidFill>
                <a:latin typeface="Calibri"/>
              </a:rPr>
              <a:t>150+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1400" b="1" i="0">
                <a:solidFill>
                  <a:srgbClr val="000000"/>
                </a:solidFill>
                <a:latin typeface="Calibri"/>
              </a:rPr>
              <a:t>לקוחות מרוצים</a:t>
            </a:r>
          </a:p>
        </p:txBody>
      </p:sp>
      <p:sp>
        <p:nvSpPr>
          <p:cNvPr id="7" name="Oval 6"/>
          <p:cNvSpPr/>
          <p:nvPr/>
        </p:nvSpPr>
        <p:spPr>
          <a:xfrm>
            <a:off x="5074920" y="2194560"/>
            <a:ext cx="1554480" cy="1554480"/>
          </a:xfrm>
          <a:prstGeom prst="ellipse">
            <a:avLst/>
          </a:prstGeom>
          <a:solidFill>
            <a:srgbClr val="2A4BFF"/>
          </a:solidFill>
          <a:ln w="635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74920" y="2606040"/>
            <a:ext cx="1554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2600" b="1" i="0">
                <a:solidFill>
                  <a:srgbClr val="FFFFFF"/>
                </a:solidFill>
                <a:latin typeface="Calibri"/>
              </a:rPr>
              <a:t>4.9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3977639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1400" b="1" i="0">
                <a:solidFill>
                  <a:srgbClr val="000000"/>
                </a:solidFill>
                <a:latin typeface="Calibri"/>
              </a:rPr>
              <a:t>דירוג ממוצע</a:t>
            </a:r>
          </a:p>
        </p:txBody>
      </p:sp>
      <p:sp>
        <p:nvSpPr>
          <p:cNvPr id="10" name="Oval 9"/>
          <p:cNvSpPr/>
          <p:nvPr/>
        </p:nvSpPr>
        <p:spPr>
          <a:xfrm>
            <a:off x="8915400" y="2194560"/>
            <a:ext cx="1554480" cy="1554480"/>
          </a:xfrm>
          <a:prstGeom prst="ellipse">
            <a:avLst/>
          </a:prstGeom>
          <a:solidFill>
            <a:srgbClr val="000000"/>
          </a:solidFill>
          <a:ln w="635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15400" y="2606040"/>
            <a:ext cx="1554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2600" b="1" i="0">
                <a:solidFill>
                  <a:srgbClr val="FFFFFF"/>
                </a:solidFill>
                <a:latin typeface="Calibri"/>
              </a:rPr>
              <a:t>x3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977639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1400" b="1" i="0">
                <a:solidFill>
                  <a:srgbClr val="000000"/>
                </a:solidFill>
                <a:latin typeface="Calibri"/>
              </a:rPr>
              <a:t>צמיחה בשנה האחרונה</a:t>
            </a:r>
          </a:p>
        </p:txBody>
      </p:sp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7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762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/>
            <a:r>
              <a:rPr sz="3200" b="1" i="0">
                <a:solidFill>
                  <a:srgbClr val="FFFFFF"/>
                </a:solidFill>
                <a:latin typeface="Calibri"/>
              </a:rPr>
              <a:t>למה אנחנו?</a:t>
            </a:r>
          </a:p>
        </p:txBody>
      </p:sp>
      <p:sp>
        <p:nvSpPr>
          <p:cNvPr id="4" name="Oval 3"/>
          <p:cNvSpPr/>
          <p:nvPr/>
        </p:nvSpPr>
        <p:spPr>
          <a:xfrm>
            <a:off x="10241280" y="1920240"/>
            <a:ext cx="502920" cy="502920"/>
          </a:xfrm>
          <a:prstGeom prst="ellipse">
            <a:avLst/>
          </a:prstGeom>
          <a:solidFill>
            <a:srgbClr val="E8FF3D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192024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/>
            <a:r>
              <a:rPr sz="2000" b="1" i="0">
                <a:solidFill>
                  <a:srgbClr val="000000"/>
                </a:solidFill>
                <a:latin typeface="Calibri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38528"/>
            <a:ext cx="9235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/>
            <a:r>
              <a:rPr sz="1800" b="1" i="0">
                <a:solidFill>
                  <a:srgbClr val="FFFFFF"/>
                </a:solidFill>
                <a:latin typeface="Calibri"/>
              </a:rPr>
              <a:t>אנרגיה שאי אפשר להתעלם ממנה</a:t>
            </a:r>
          </a:p>
        </p:txBody>
      </p:sp>
      <p:sp>
        <p:nvSpPr>
          <p:cNvPr id="7" name="Oval 6"/>
          <p:cNvSpPr/>
          <p:nvPr/>
        </p:nvSpPr>
        <p:spPr>
          <a:xfrm>
            <a:off x="10241280" y="2834640"/>
            <a:ext cx="502920" cy="502920"/>
          </a:xfrm>
          <a:prstGeom prst="ellipse">
            <a:avLst/>
          </a:prstGeom>
          <a:solidFill>
            <a:srgbClr val="E8FF3D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0" y="283464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/>
            <a:r>
              <a:rPr sz="2000" b="1" i="0">
                <a:solidFill>
                  <a:srgbClr val="000000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52928"/>
            <a:ext cx="9235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/>
            <a:r>
              <a:rPr sz="1800" b="1" i="0">
                <a:solidFill>
                  <a:srgbClr val="FFFFFF"/>
                </a:solidFill>
                <a:latin typeface="Calibri"/>
              </a:rPr>
              <a:t>תוצאות שמדברות בעד עצמן</a:t>
            </a:r>
          </a:p>
        </p:txBody>
      </p:sp>
      <p:sp>
        <p:nvSpPr>
          <p:cNvPr id="10" name="Oval 9"/>
          <p:cNvSpPr/>
          <p:nvPr/>
        </p:nvSpPr>
        <p:spPr>
          <a:xfrm>
            <a:off x="10241280" y="3749040"/>
            <a:ext cx="502920" cy="502920"/>
          </a:xfrm>
          <a:prstGeom prst="ellipse">
            <a:avLst/>
          </a:prstGeom>
          <a:solidFill>
            <a:srgbClr val="E8FF3D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0" y="374904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/>
            <a:r>
              <a:rPr sz="2000" b="1" i="0">
                <a:solidFill>
                  <a:srgbClr val="000000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67328"/>
            <a:ext cx="9235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/>
            <a:r>
              <a:rPr sz="1800" b="1" i="0">
                <a:solidFill>
                  <a:srgbClr val="FFFFFF"/>
                </a:solidFill>
                <a:latin typeface="Calibri"/>
              </a:rPr>
              <a:t>צוות שבאמת אוהב את מה שהוא עושה</a:t>
            </a:r>
          </a:p>
        </p:txBody>
      </p:sp>
      <p:sp>
        <p:nvSpPr>
          <p:cNvPr id="13" name="Oval 12"/>
          <p:cNvSpPr/>
          <p:nvPr/>
        </p:nvSpPr>
        <p:spPr>
          <a:xfrm>
            <a:off x="10241280" y="4663440"/>
            <a:ext cx="502920" cy="502920"/>
          </a:xfrm>
          <a:prstGeom prst="ellipse">
            <a:avLst/>
          </a:prstGeom>
          <a:solidFill>
            <a:srgbClr val="E8FF3D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0" y="466344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/>
            <a:r>
              <a:rPr sz="2000" b="1" i="0">
                <a:solidFill>
                  <a:srgbClr val="000000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681728"/>
            <a:ext cx="9235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/>
            <a:r>
              <a:rPr sz="1800" b="1" i="0">
                <a:solidFill>
                  <a:srgbClr val="FFFFFF"/>
                </a:solidFill>
                <a:latin typeface="Calibri"/>
              </a:rPr>
              <a:t>אפס שעמום, המון תוצאות</a:t>
            </a:r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76200">
            <a:solidFill>
              <a:srgbClr val="E8F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286000" y="2103120"/>
            <a:ext cx="7616952" cy="2560320"/>
          </a:xfrm>
          <a:prstGeom prst="roundRect">
            <a:avLst/>
          </a:prstGeom>
          <a:solidFill>
            <a:srgbClr val="E8FF3D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51760" y="246888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3800" b="1" i="0">
                <a:solidFill>
                  <a:srgbClr val="000000"/>
                </a:solidFill>
                <a:latin typeface="Calibri"/>
              </a:rPr>
              <a:t>בואו נדבר!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3429000"/>
            <a:ext cx="6858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1500" b="1" i="0">
                <a:solidFill>
                  <a:srgbClr val="000000"/>
                </a:solidFill>
                <a:latin typeface="Calibri"/>
              </a:rPr>
              <a:t>hello@yourbusiness.co.il · 050-000-0000</a:t>
            </a:r>
          </a:p>
        </p:txBody>
      </p:sp>
    </p:spTree>
  </p:cSld>
  <p:clrMapOvr>
    <a:masterClrMapping/>
  </p:clrMapOvr>
  <p:transition spd="med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