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4B8B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400" b="1" i="0">
                <a:solidFill>
                  <a:srgbClr val="14B8B8"/>
                </a:solidFill>
                <a:latin typeface="Calibri"/>
              </a:rPr>
              <a:t>ברוכים הבאים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601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4400" b="1" i="0">
                <a:solidFill>
                  <a:srgbClr val="FFFFFF"/>
                </a:solidFill>
                <a:latin typeface="Calibri"/>
              </a:rPr>
              <a:t>שם החברה שלכם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800" b="0" i="0">
                <a:solidFill>
                  <a:srgbClr val="A8A8B8"/>
                </a:solidFill>
                <a:latin typeface="Calibri"/>
              </a:rPr>
              <a:t>משפט אחד שמסביר את החזון שלכם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100" b="0" i="0">
                <a:solidFill>
                  <a:srgbClr val="6E6E86"/>
                </a:solidFill>
                <a:latin typeface="Calibri"/>
              </a:rPr>
              <a:t>תבנית מצגת עסקית — Cinematic Dark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4B8B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000" b="1" i="0">
                <a:solidFill>
                  <a:srgbClr val="14B8B8"/>
                </a:solidFill>
                <a:latin typeface="Calibri"/>
              </a:rPr>
              <a:t>החזון שלנו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38100"/>
          </a:xfrm>
          <a:prstGeom prst="rect">
            <a:avLst/>
          </a:prstGeom>
          <a:solidFill>
            <a:srgbClr val="14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אנחנו מאמינים שכל עסק ראוי לכלים ברמה עולמית. אנחנו בונים פתרונות שמשלבים טכנולוגיה מתקדמת עם עיצוב שמרגיש כמו העתיד — כדי שתוכלו להתמקד במה שאתם עושים הכי טוב.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3566160"/>
            <a:ext cx="384048" cy="384048"/>
          </a:xfrm>
          <a:prstGeom prst="ellipse">
            <a:avLst/>
          </a:prstGeom>
          <a:solidFill>
            <a:srgbClr val="14B8B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0" y="35661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500" b="1" i="0">
                <a:solidFill>
                  <a:srgbClr val="14B8B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Calibri"/>
              </a:rPr>
              <a:t>מהירות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 i="0">
                <a:solidFill>
                  <a:srgbClr val="A8A8B8"/>
                </a:solidFill>
                <a:latin typeface="Calibri"/>
              </a:rPr>
              <a:t>פתרונות שעולים לאוויר תוך ימים, לא חודשים</a:t>
            </a:r>
          </a:p>
        </p:txBody>
      </p:sp>
      <p:sp>
        <p:nvSpPr>
          <p:cNvPr id="10" name="Oval 9"/>
          <p:cNvSpPr/>
          <p:nvPr/>
        </p:nvSpPr>
        <p:spPr>
          <a:xfrm>
            <a:off x="10607040" y="4480560"/>
            <a:ext cx="384048" cy="384048"/>
          </a:xfrm>
          <a:prstGeom prst="ellipse">
            <a:avLst/>
          </a:prstGeom>
          <a:solidFill>
            <a:srgbClr val="14B8B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0" y="44805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500" b="1" i="0">
                <a:solidFill>
                  <a:srgbClr val="14B8B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Calibri"/>
              </a:rPr>
              <a:t>שקיפות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006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 i="0">
                <a:solidFill>
                  <a:srgbClr val="A8A8B8"/>
                </a:solidFill>
                <a:latin typeface="Calibri"/>
              </a:rPr>
              <a:t>אתם יודעים בדיוק לאן הולך כל שקל</a:t>
            </a:r>
          </a:p>
        </p:txBody>
      </p:sp>
      <p:sp>
        <p:nvSpPr>
          <p:cNvPr id="14" name="Oval 13"/>
          <p:cNvSpPr/>
          <p:nvPr/>
        </p:nvSpPr>
        <p:spPr>
          <a:xfrm>
            <a:off x="10607040" y="5394960"/>
            <a:ext cx="384048" cy="384048"/>
          </a:xfrm>
          <a:prstGeom prst="ellipse">
            <a:avLst/>
          </a:prstGeom>
          <a:solidFill>
            <a:srgbClr val="14B8B8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53949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1500" b="1" i="0">
                <a:solidFill>
                  <a:srgbClr val="14B8B8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1" i="0">
                <a:solidFill>
                  <a:srgbClr val="FFFFFF"/>
                </a:solidFill>
                <a:latin typeface="Calibri"/>
              </a:rPr>
              <a:t>תוצאות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300" b="0" i="0">
                <a:solidFill>
                  <a:srgbClr val="A8A8B8"/>
                </a:solidFill>
                <a:latin typeface="Calibri"/>
              </a:rPr>
              <a:t>כל מה שאנחנו בונים נמדד ומוכיח את עצמו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000" b="1" i="0">
                <a:solidFill>
                  <a:srgbClr val="14B8B8"/>
                </a:solidFill>
                <a:latin typeface="Calibri"/>
              </a:rPr>
              <a:t>מה אנחנו מציעים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19872" y="1828800"/>
            <a:ext cx="3246120" cy="32918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94192" y="2148840"/>
            <a:ext cx="548640" cy="548640"/>
          </a:xfrm>
          <a:prstGeom prst="ellipse">
            <a:avLst/>
          </a:prstGeom>
          <a:solidFill>
            <a:srgbClr val="14B8B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4192" y="21488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2000" b="1" i="0">
                <a:solidFill>
                  <a:srgbClr val="14B8B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297180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 i="0">
                <a:solidFill>
                  <a:srgbClr val="FFFFFF"/>
                </a:solidFill>
                <a:latin typeface="Calibri"/>
              </a:rPr>
              <a:t>אסטרטגיה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3520440"/>
            <a:ext cx="2697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A8A8B8"/>
                </a:solidFill>
                <a:latin typeface="Calibri"/>
              </a:rPr>
              <a:t>בונים תוכנית עבודה מותאמת למטרות שלכם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9432" y="1828800"/>
            <a:ext cx="3246120" cy="32918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73752" y="2148840"/>
            <a:ext cx="548640" cy="548640"/>
          </a:xfrm>
          <a:prstGeom prst="ellipse">
            <a:avLst/>
          </a:prstGeom>
          <a:solidFill>
            <a:srgbClr val="14B8B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21488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2000" b="1" i="0">
                <a:solidFill>
                  <a:srgbClr val="14B8B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97180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 i="0">
                <a:solidFill>
                  <a:srgbClr val="FFFFFF"/>
                </a:solidFill>
                <a:latin typeface="Calibri"/>
              </a:rPr>
              <a:t>פיתוח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3520440"/>
            <a:ext cx="2697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A8A8B8"/>
                </a:solidFill>
                <a:latin typeface="Calibri"/>
              </a:rPr>
              <a:t>מפתחים בטכנולוגיה מתקדמת — מהר ובשקיפות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1828800"/>
            <a:ext cx="3246120" cy="3291840"/>
          </a:xfrm>
          <a:prstGeom prst="roundRect">
            <a:avLst/>
          </a:prstGeom>
          <a:solidFill>
            <a:srgbClr val="16161F"/>
          </a:solidFill>
          <a:ln w="1270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53312" y="2148840"/>
            <a:ext cx="548640" cy="548640"/>
          </a:xfrm>
          <a:prstGeom prst="ellipse">
            <a:avLst/>
          </a:prstGeom>
          <a:solidFill>
            <a:srgbClr val="14B8B8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21488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/>
            <a:r>
              <a:rPr sz="2000" b="1" i="0">
                <a:solidFill>
                  <a:srgbClr val="14B8B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97180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800" b="1" i="0">
                <a:solidFill>
                  <a:srgbClr val="FFFFFF"/>
                </a:solidFill>
                <a:latin typeface="Calibri"/>
              </a:rPr>
              <a:t>צמיחה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520440"/>
            <a:ext cx="2697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00" b="0" i="0">
                <a:solidFill>
                  <a:srgbClr val="A8A8B8"/>
                </a:solidFill>
                <a:latin typeface="Calibri"/>
              </a:rPr>
              <a:t>מלווים אתכם גם אחרי ההשקה, לתוצאות מתמשכות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4B8B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000" b="1" i="0">
                <a:solidFill>
                  <a:srgbClr val="14B8B8"/>
                </a:solidFill>
                <a:latin typeface="Calibri"/>
              </a:rPr>
              <a:t>צמיחה שנה אחר שנה</a:t>
            </a:r>
          </a:p>
        </p:txBody>
      </p:sp>
      <p:sp>
        <p:nvSpPr>
          <p:cNvPr id="4" name="Rectangle 3"/>
          <p:cNvSpPr/>
          <p:nvPr/>
        </p:nvSpPr>
        <p:spPr>
          <a:xfrm>
            <a:off x="2692479" y="4841653"/>
            <a:ext cx="1821656" cy="243983"/>
          </a:xfrm>
          <a:prstGeom prst="rect">
            <a:avLst/>
          </a:prstGeom>
          <a:solidFill>
            <a:srgbClr val="7C3AE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91715" y="5242417"/>
            <a:ext cx="1821656" cy="243983"/>
          </a:xfrm>
          <a:prstGeom prst="rect">
            <a:avLst/>
          </a:prstGeom>
          <a:solidFill>
            <a:srgbClr val="14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91715" y="5242417"/>
            <a:ext cx="1821656" cy="40000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90951" y="4902417"/>
            <a:ext cx="222242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5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0951" y="5556400"/>
            <a:ext cx="22224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200" b="1" i="0">
                <a:solidFill>
                  <a:srgbClr val="A8A8B8"/>
                </a:solidFill>
                <a:latin typeface="Calibri"/>
              </a:rPr>
              <a:t>שנה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1290" y="4394350"/>
            <a:ext cx="1821656" cy="691286"/>
          </a:xfrm>
          <a:prstGeom prst="rect">
            <a:avLst/>
          </a:prstGeom>
          <a:solidFill>
            <a:srgbClr val="7C3AE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0526" y="4795114"/>
            <a:ext cx="1821656" cy="691286"/>
          </a:xfrm>
          <a:prstGeom prst="rect">
            <a:avLst/>
          </a:prstGeom>
          <a:solidFill>
            <a:srgbClr val="14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10526" y="4795114"/>
            <a:ext cx="1821656" cy="69128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9762" y="4455114"/>
            <a:ext cx="222242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500" b="1" i="0">
                <a:solidFill>
                  <a:srgbClr val="FFFFFF"/>
                </a:solidFill>
                <a:latin typeface="Calibri"/>
              </a:rPr>
              <a:t>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762" y="5556400"/>
            <a:ext cx="22224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200" b="1" i="0">
                <a:solidFill>
                  <a:srgbClr val="A8A8B8"/>
                </a:solidFill>
                <a:latin typeface="Calibri"/>
              </a:rPr>
              <a:t>שנה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0101" y="3540408"/>
            <a:ext cx="1821656" cy="1545228"/>
          </a:xfrm>
          <a:prstGeom prst="rect">
            <a:avLst/>
          </a:prstGeom>
          <a:solidFill>
            <a:srgbClr val="7C3AE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9337" y="3941172"/>
            <a:ext cx="1821656" cy="1545228"/>
          </a:xfrm>
          <a:prstGeom prst="rect">
            <a:avLst/>
          </a:prstGeom>
          <a:solidFill>
            <a:srgbClr val="14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9337" y="3941172"/>
            <a:ext cx="1821656" cy="15452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28573" y="3601172"/>
            <a:ext cx="222242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500" b="1" i="0">
                <a:solidFill>
                  <a:srgbClr val="FFFFFF"/>
                </a:solidFill>
                <a:latin typeface="Calibri"/>
              </a:rPr>
              <a:t>190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8573" y="5556400"/>
            <a:ext cx="22224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200" b="1" i="0">
                <a:solidFill>
                  <a:srgbClr val="A8A8B8"/>
                </a:solidFill>
                <a:latin typeface="Calibri"/>
              </a:rPr>
              <a:t>שנה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48912" y="2320491"/>
            <a:ext cx="1821656" cy="2765145"/>
          </a:xfrm>
          <a:prstGeom prst="rect">
            <a:avLst/>
          </a:prstGeom>
          <a:solidFill>
            <a:srgbClr val="7C3AED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8148" y="2721255"/>
            <a:ext cx="1821656" cy="2765145"/>
          </a:xfrm>
          <a:prstGeom prst="rect">
            <a:avLst/>
          </a:prstGeom>
          <a:solidFill>
            <a:srgbClr val="14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8148" y="2721255"/>
            <a:ext cx="1821656" cy="276514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47384" y="2381255"/>
            <a:ext cx="222242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500" b="1" i="0">
                <a:solidFill>
                  <a:srgbClr val="FFFFFF"/>
                </a:solidFill>
                <a:latin typeface="Calibri"/>
              </a:rPr>
              <a:t>340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7384" y="5556400"/>
            <a:ext cx="22224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200" b="1" i="0">
                <a:solidFill>
                  <a:srgbClr val="A8A8B8"/>
                </a:solidFill>
                <a:latin typeface="Calibri"/>
              </a:rPr>
              <a:t>שנה 4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202543" y="4795114"/>
            <a:ext cx="1918811" cy="447303"/>
          </a:xfrm>
          <a:prstGeom prst="line">
            <a:avLst/>
          </a:prstGeom>
          <a:ln w="349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121354" y="3941172"/>
            <a:ext cx="1918811" cy="853942"/>
          </a:xfrm>
          <a:prstGeom prst="line">
            <a:avLst/>
          </a:prstGeom>
          <a:ln w="349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040165" y="2721255"/>
            <a:ext cx="1918811" cy="1219917"/>
          </a:xfrm>
          <a:prstGeom prst="line">
            <a:avLst/>
          </a:prstGeom>
          <a:ln w="349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3138543" y="5178417"/>
            <a:ext cx="128000" cy="12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57354" y="4731114"/>
            <a:ext cx="128000" cy="12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76165" y="3877172"/>
            <a:ext cx="128000" cy="12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94976" y="2657255"/>
            <a:ext cx="128000" cy="12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3000" b="1" i="0">
                <a:solidFill>
                  <a:srgbClr val="14B8B8"/>
                </a:solidFill>
                <a:latin typeface="Calibri"/>
              </a:rPr>
              <a:t>למה לבחור בנו</a:t>
            </a:r>
          </a:p>
        </p:txBody>
      </p:sp>
      <p:sp>
        <p:nvSpPr>
          <p:cNvPr id="4" name="Oval 3"/>
          <p:cNvSpPr/>
          <p:nvPr/>
        </p:nvSpPr>
        <p:spPr>
          <a:xfrm>
            <a:off x="10241280" y="2011680"/>
            <a:ext cx="201168" cy="201168"/>
          </a:xfrm>
          <a:prstGeom prst="ellipse">
            <a:avLst/>
          </a:prstGeom>
          <a:solidFill>
            <a:srgbClr val="14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9281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  <a:latin typeface="Calibri"/>
              </a:rPr>
              <a:t>צוות מומחים עם ניסיון מוכח בתעשייה</a:t>
            </a:r>
          </a:p>
        </p:txBody>
      </p:sp>
      <p:sp>
        <p:nvSpPr>
          <p:cNvPr id="6" name="Oval 5"/>
          <p:cNvSpPr/>
          <p:nvPr/>
        </p:nvSpPr>
        <p:spPr>
          <a:xfrm>
            <a:off x="10241280" y="2880360"/>
            <a:ext cx="201168" cy="201168"/>
          </a:xfrm>
          <a:prstGeom prst="ellipse">
            <a:avLst/>
          </a:prstGeom>
          <a:solidFill>
            <a:srgbClr val="14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15768"/>
            <a:ext cx="9281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  <a:latin typeface="Calibri"/>
              </a:rPr>
              <a:t>ליווי אישי מהרגע הראשון ועד ההשקה</a:t>
            </a:r>
          </a:p>
        </p:txBody>
      </p:sp>
      <p:sp>
        <p:nvSpPr>
          <p:cNvPr id="8" name="Oval 7"/>
          <p:cNvSpPr/>
          <p:nvPr/>
        </p:nvSpPr>
        <p:spPr>
          <a:xfrm>
            <a:off x="10241280" y="3749040"/>
            <a:ext cx="201168" cy="201168"/>
          </a:xfrm>
          <a:prstGeom prst="ellipse">
            <a:avLst/>
          </a:prstGeom>
          <a:solidFill>
            <a:srgbClr val="14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84448"/>
            <a:ext cx="9281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  <a:latin typeface="Calibri"/>
              </a:rPr>
              <a:t>טכנולוגיה שגדלה יחד אתכם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0" y="4617719"/>
            <a:ext cx="201168" cy="201168"/>
          </a:xfrm>
          <a:prstGeom prst="ellipse">
            <a:avLst/>
          </a:prstGeom>
          <a:solidFill>
            <a:srgbClr val="14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53127"/>
            <a:ext cx="9281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700" b="0" i="0">
                <a:solidFill>
                  <a:srgbClr val="FFFFFF"/>
                </a:solidFill>
                <a:latin typeface="Calibri"/>
              </a:rPr>
              <a:t>שקיפות מלאה בתהליך ובתמחור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4B8B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4000" b="1" i="0">
                <a:solidFill>
                  <a:srgbClr val="FFFFFF"/>
                </a:solidFill>
                <a:latin typeface="Calibri"/>
              </a:rPr>
              <a:t>בואו נדבר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0" i="0">
                <a:solidFill>
                  <a:srgbClr val="14B8B8"/>
                </a:solidFill>
                <a:latin typeface="Calibri"/>
              </a:rPr>
              <a:t>hello@yourcompany.co.il  ·  050-000-0000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297680"/>
            <a:ext cx="1828800" cy="25400"/>
          </a:xfrm>
          <a:prstGeom prst="rect">
            <a:avLst/>
          </a:prstGeom>
          <a:solidFill>
            <a:srgbClr val="2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200" b="0" i="0">
                <a:solidFill>
                  <a:srgbClr val="A8A8B8"/>
                </a:solidFill>
                <a:latin typeface="Calibri"/>
              </a:rPr>
              <a:t>תודה שהקדשתם לנו מזמנכם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