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ביצוע</c:v>
                </c:pt>
              </c:strCache>
            </c:strRef>
          </c:tx>
          <c:spPr>
            <a:solidFill>
              <a:srgbClr val="1E2E57"/>
            </a:solidFill>
          </c:spPr>
          <c:cat>
            <c:strRef>
              <c:f>Sheet1!$A$2:$A$4</c:f>
              <c:strCache>
                <c:ptCount val="3"/>
                <c:pt idx="0">
                  <c:v>יולי</c:v>
                </c:pt>
                <c:pt idx="1">
                  <c:v>אוגוסט</c:v>
                </c:pt>
                <c:pt idx="2">
                  <c:v>ספטמבר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380</c:v>
                </c:pt>
                <c:pt idx="1">
                  <c:v>410</c:v>
                </c:pt>
                <c:pt idx="2">
                  <c:v>490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יעד</c:v>
                </c:pt>
              </c:strCache>
            </c:strRef>
          </c:tx>
          <c:spPr>
            <a:solidFill>
              <a:srgbClr val="C7CEDD"/>
            </a:solidFill>
          </c:spPr>
          <c:cat>
            <c:strRef>
              <c:f>Sheet1!$A$2:$A$4</c:f>
              <c:strCache>
                <c:ptCount val="3"/>
                <c:pt idx="0">
                  <c:v>יולי</c:v>
                </c:pt>
                <c:pt idx="1">
                  <c:v>אוגוסט</c:v>
                </c:pt>
                <c:pt idx="2">
                  <c:v>ספטמבר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400</c:v>
                </c:pt>
                <c:pt idx="1">
                  <c:v>400</c:v>
                </c:pt>
                <c:pt idx="2">
                  <c:v>400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1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CFDB"/>
            </a:solidFill>
          </a:ln>
        </c:spPr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>
              <a:solidFill>
                <a:srgbClr val="E4E7EE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6B7385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200">
          <a:solidFill>
            <a:srgbClr val="1B22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8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Oval 1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27396A">
              <a:alpha val="6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2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27396A">
              <a:alpha val="4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3" descr="barchart-FF6F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960120"/>
            <a:ext cx="1371600" cy="1371600"/>
          </a:xfrm>
          <a:prstGeom prst="rect">
            <a:avLst/>
          </a:prstGeom>
        </p:spPr>
      </p:pic>
      <p:sp>
        <p:nvSpPr>
          <p:cNvPr id="6" name="TextBox 4"/>
          <p:cNvSpPr txBox="1"/>
          <p:nvPr/>
        </p:nvSpPr>
        <p:spPr>
          <a:xfrm>
            <a:off x="914400" y="2606040"/>
            <a:ext cx="10360152" cy="91440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 rtl="1">
              <a:buNone/>
            </a:pPr>
            <a:r>
              <a:rPr lang="he-IL" sz="4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סיכום רבעוני ודוח ביצועים</a:t>
            </a:r>
          </a:p>
        </p:txBody>
      </p:sp>
      <p:sp>
        <p:nvSpPr>
          <p:cNvPr id="7" name="TextBox 5"/>
          <p:cNvSpPr txBox="1"/>
          <p:nvPr/>
        </p:nvSpPr>
        <p:spPr>
          <a:xfrm>
            <a:off x="914400" y="3474720"/>
            <a:ext cx="10360152" cy="54864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 rtl="1">
              <a:buNone/>
            </a:pPr>
            <a:r>
              <a:rPr lang="he-IL" sz="2000" b="0" dirty="0" i="1">
                <a:solidFill>
                  <a:srgbClr val="D3DAEA"/>
                </a:solidFill>
                <a:latin typeface="Calibri"/>
                <a:ea typeface="Calibri"/>
                <a:cs typeface="Calibri"/>
              </a:rPr>
              <a:t>רבעון 3 · 2026 | שם החברה שלכם</a:t>
            </a:r>
          </a:p>
        </p:txBody>
      </p:sp>
      <p:sp>
        <p:nvSpPr>
          <p:cNvPr id="8" name="TextBox 6"/>
          <p:cNvSpPr txBox="1"/>
          <p:nvPr/>
        </p:nvSpPr>
        <p:spPr>
          <a:xfrm>
            <a:off x="914400" y="6263640"/>
            <a:ext cx="10360152" cy="36576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 rtl="1">
              <a:buNone/>
            </a:pPr>
            <a:r>
              <a:rPr lang="he-IL" sz="1200" b="0" dirty="0">
                <a:solidFill>
                  <a:srgbClr val="98A3C0"/>
                </a:solidFill>
                <a:latin typeface="Calibri"/>
                <a:ea typeface="Calibri"/>
                <a:cs typeface="Calibri"/>
              </a:rPr>
              <a:t>תבנית דוח רבעוני — ניתנת להתאמה מלאה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r" indent="0" marL="0" rtl="1">
              <a:buNone/>
            </a:pPr>
            <a:r>
              <a:rPr lang="he-IL" sz="3200" b="1" dirty="0">
                <a:solidFill>
                  <a:srgbClr val="1E2E57"/>
                </a:solidFill>
                <a:latin typeface="Calibri"/>
                <a:ea typeface="Calibri"/>
                <a:cs typeface="Calibri"/>
              </a:rPr>
              <a:t>עיקרי הרבעון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40080" y="1097280"/>
            <a:ext cx="10908792" cy="36576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r" indent="0" marL="0" rtl="1">
              <a:buNone/>
            </a:pPr>
            <a:r>
              <a:rPr lang="he-IL" sz="1400" b="0" dirty="0">
                <a:solidFill>
                  <a:srgbClr val="6B7385"/>
                </a:solidFill>
                <a:latin typeface="Calibri"/>
                <a:ea typeface="Calibri"/>
                <a:cs typeface="Calibri"/>
              </a:rPr>
              <a:t>המספרים החשובים ביותר ברבעון במבט אחד — החליפו בנתונים שלכם</a:t>
            </a:r>
          </a:p>
        </p:txBody>
      </p:sp>
      <p:sp>
        <p:nvSpPr>
          <p:cNvPr id="5" name="Rounded Rectangle 3"/>
          <p:cNvSpPr/>
          <p:nvPr/>
        </p:nvSpPr>
        <p:spPr>
          <a:xfrm>
            <a:off x="8942832" y="1828800"/>
            <a:ext cx="2606040" cy="3566160"/>
          </a:xfrm>
          <a:prstGeom prst="roundRect">
            <a:avLst>
              <a:gd name="adj" fmla="val 2800"/>
            </a:avLst>
          </a:prstGeom>
          <a:solidFill>
            <a:srgbClr val="EEF1F7"/>
          </a:solidFill>
          <a:ln>
            <a:noFill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Oval 4"/>
          <p:cNvSpPr/>
          <p:nvPr/>
        </p:nvSpPr>
        <p:spPr>
          <a:xfrm>
            <a:off x="9880092" y="214884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5" descr="trending-1E2E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4684" y="2313432"/>
            <a:ext cx="402336" cy="402336"/>
          </a:xfrm>
          <a:prstGeom prst="rect">
            <a:avLst/>
          </a:prstGeom>
        </p:spPr>
      </p:pic>
      <p:sp>
        <p:nvSpPr>
          <p:cNvPr id="8" name="TextBox 6"/>
          <p:cNvSpPr txBox="1"/>
          <p:nvPr/>
        </p:nvSpPr>
        <p:spPr>
          <a:xfrm>
            <a:off x="8942832" y="3063240"/>
            <a:ext cx="2606040" cy="77724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>
              <a:buNone/>
            </a:pPr>
            <a:r>
              <a:rPr lang="he-IL" sz="3600" b="1" dirty="0">
                <a:solidFill>
                  <a:srgbClr val="1E2E57"/>
                </a:solidFill>
                <a:latin typeface="Calibri"/>
                <a:ea typeface="Calibri"/>
                <a:cs typeface="Calibri"/>
              </a:rPr>
              <a:t>₪1.28M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8942832" y="3840480"/>
            <a:ext cx="2606040" cy="41148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 rtl="1">
              <a:buNone/>
            </a:pPr>
            <a:r>
              <a:rPr lang="he-IL" sz="1600" b="1" dirty="0">
                <a:solidFill>
                  <a:srgbClr val="1B2233"/>
                </a:solidFill>
                <a:latin typeface="Calibri"/>
                <a:ea typeface="Calibri"/>
                <a:cs typeface="Calibri"/>
              </a:rPr>
              <a:t>הכנסות ברבעון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9217152" y="4480560"/>
            <a:ext cx="20574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9"/>
          <p:cNvSpPr txBox="1"/>
          <p:nvPr/>
        </p:nvSpPr>
        <p:spPr>
          <a:xfrm>
            <a:off x="9217152" y="4480560"/>
            <a:ext cx="2057400" cy="45720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 rtl="1">
              <a:buNone/>
            </a:pPr>
            <a:r>
              <a:rPr lang="he-IL" sz="1200" b="1" dirty="0">
                <a:solidFill>
                  <a:srgbClr val="1E8E5A"/>
                </a:solidFill>
                <a:latin typeface="Calibri"/>
                <a:ea typeface="Calibri"/>
                <a:cs typeface="Calibri"/>
              </a:rPr>
              <a:t>עלייה של 18%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6172200" y="1828800"/>
            <a:ext cx="2606040" cy="3566160"/>
          </a:xfrm>
          <a:prstGeom prst="roundRect">
            <a:avLst>
              <a:gd name="adj" fmla="val 2800"/>
            </a:avLst>
          </a:prstGeom>
          <a:solidFill>
            <a:srgbClr val="EEF1F7"/>
          </a:solidFill>
          <a:ln>
            <a:noFill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3" name="Oval 11"/>
          <p:cNvSpPr/>
          <p:nvPr/>
        </p:nvSpPr>
        <p:spPr>
          <a:xfrm>
            <a:off x="7109460" y="214884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2" descr="users-1E2E5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4052" y="2313432"/>
            <a:ext cx="402336" cy="402336"/>
          </a:xfrm>
          <a:prstGeom prst="rect">
            <a:avLst/>
          </a:prstGeom>
        </p:spPr>
      </p:pic>
      <p:sp>
        <p:nvSpPr>
          <p:cNvPr id="15" name="TextBox 13"/>
          <p:cNvSpPr txBox="1"/>
          <p:nvPr/>
        </p:nvSpPr>
        <p:spPr>
          <a:xfrm>
            <a:off x="6172200" y="3063240"/>
            <a:ext cx="2606040" cy="77724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>
              <a:buNone/>
            </a:pPr>
            <a:r>
              <a:rPr lang="he-IL" sz="3600" b="1" dirty="0">
                <a:solidFill>
                  <a:srgbClr val="1E2E57"/>
                </a:solidFill>
                <a:latin typeface="Calibri"/>
                <a:ea typeface="Calibri"/>
                <a:cs typeface="Calibri"/>
              </a:rPr>
              <a:t>312</a:t>
            </a:r>
          </a:p>
        </p:txBody>
      </p:sp>
      <p:sp>
        <p:nvSpPr>
          <p:cNvPr id="16" name="TextBox 14"/>
          <p:cNvSpPr txBox="1"/>
          <p:nvPr/>
        </p:nvSpPr>
        <p:spPr>
          <a:xfrm>
            <a:off x="6172200" y="3840480"/>
            <a:ext cx="2606040" cy="41148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 rtl="1">
              <a:buNone/>
            </a:pPr>
            <a:r>
              <a:rPr lang="he-IL" sz="1600" b="1" dirty="0">
                <a:solidFill>
                  <a:srgbClr val="1B2233"/>
                </a:solidFill>
                <a:latin typeface="Calibri"/>
                <a:ea typeface="Calibri"/>
                <a:cs typeface="Calibri"/>
              </a:rPr>
              <a:t>לקוחות פעילים</a:t>
            </a:r>
          </a:p>
        </p:txBody>
      </p:sp>
      <p:sp>
        <p:nvSpPr>
          <p:cNvPr id="17" name="Rounded Rectangle 15"/>
          <p:cNvSpPr/>
          <p:nvPr/>
        </p:nvSpPr>
        <p:spPr>
          <a:xfrm>
            <a:off x="6446520" y="4480560"/>
            <a:ext cx="20574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6"/>
          <p:cNvSpPr txBox="1"/>
          <p:nvPr/>
        </p:nvSpPr>
        <p:spPr>
          <a:xfrm>
            <a:off x="6446520" y="4480560"/>
            <a:ext cx="2057400" cy="45720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 rtl="1">
              <a:buNone/>
            </a:pPr>
            <a:r>
              <a:rPr lang="he-IL" sz="1200" b="1" dirty="0">
                <a:solidFill>
                  <a:srgbClr val="1E8E5A"/>
                </a:solidFill>
                <a:latin typeface="Calibri"/>
                <a:ea typeface="Calibri"/>
                <a:cs typeface="Calibri"/>
              </a:rPr>
              <a:t>24 לקוחות חדשים</a:t>
            </a:r>
          </a:p>
        </p:txBody>
      </p:sp>
      <p:sp>
        <p:nvSpPr>
          <p:cNvPr id="19" name="Rounded Rectangle 17"/>
          <p:cNvSpPr/>
          <p:nvPr/>
        </p:nvSpPr>
        <p:spPr>
          <a:xfrm>
            <a:off x="3401568" y="1828800"/>
            <a:ext cx="2606040" cy="3566160"/>
          </a:xfrm>
          <a:prstGeom prst="roundRect">
            <a:avLst>
              <a:gd name="adj" fmla="val 2800"/>
            </a:avLst>
          </a:prstGeom>
          <a:solidFill>
            <a:srgbClr val="EEF1F7"/>
          </a:solidFill>
          <a:ln>
            <a:noFill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0" name="Oval 18"/>
          <p:cNvSpPr/>
          <p:nvPr/>
        </p:nvSpPr>
        <p:spPr>
          <a:xfrm>
            <a:off x="4338827" y="214884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19" descr="heart-1E2E5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3419" y="2313432"/>
            <a:ext cx="402336" cy="402336"/>
          </a:xfrm>
          <a:prstGeom prst="rect">
            <a:avLst/>
          </a:prstGeom>
        </p:spPr>
      </p:pic>
      <p:sp>
        <p:nvSpPr>
          <p:cNvPr id="22" name="TextBox 20"/>
          <p:cNvSpPr txBox="1"/>
          <p:nvPr/>
        </p:nvSpPr>
        <p:spPr>
          <a:xfrm>
            <a:off x="3401568" y="3063240"/>
            <a:ext cx="2606040" cy="77724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>
              <a:buNone/>
            </a:pPr>
            <a:r>
              <a:rPr lang="he-IL" sz="3600" b="1" dirty="0">
                <a:solidFill>
                  <a:srgbClr val="1E2E57"/>
                </a:solidFill>
                <a:latin typeface="Calibri"/>
                <a:ea typeface="Calibri"/>
                <a:cs typeface="Calibri"/>
              </a:rPr>
              <a:t>94%</a:t>
            </a:r>
          </a:p>
        </p:txBody>
      </p:sp>
      <p:sp>
        <p:nvSpPr>
          <p:cNvPr id="23" name="TextBox 21"/>
          <p:cNvSpPr txBox="1"/>
          <p:nvPr/>
        </p:nvSpPr>
        <p:spPr>
          <a:xfrm>
            <a:off x="3401568" y="3840480"/>
            <a:ext cx="2606040" cy="41148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 rtl="1">
              <a:buNone/>
            </a:pPr>
            <a:r>
              <a:rPr lang="he-IL" sz="1600" b="1" dirty="0">
                <a:solidFill>
                  <a:srgbClr val="1B2233"/>
                </a:solidFill>
                <a:latin typeface="Calibri"/>
                <a:ea typeface="Calibri"/>
                <a:cs typeface="Calibri"/>
              </a:rPr>
              <a:t>שימור לקוחות</a:t>
            </a:r>
          </a:p>
        </p:txBody>
      </p:sp>
      <p:sp>
        <p:nvSpPr>
          <p:cNvPr id="24" name="Rounded Rectangle 22"/>
          <p:cNvSpPr/>
          <p:nvPr/>
        </p:nvSpPr>
        <p:spPr>
          <a:xfrm>
            <a:off x="3675887" y="4480560"/>
            <a:ext cx="20574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3"/>
          <p:cNvSpPr txBox="1"/>
          <p:nvPr/>
        </p:nvSpPr>
        <p:spPr>
          <a:xfrm>
            <a:off x="3675887" y="4480560"/>
            <a:ext cx="2057400" cy="45720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 rtl="1">
              <a:buNone/>
            </a:pPr>
            <a:r>
              <a:rPr lang="he-IL" sz="1200" b="1" dirty="0">
                <a:solidFill>
                  <a:srgbClr val="1E8E5A"/>
                </a:solidFill>
                <a:latin typeface="Calibri"/>
                <a:ea typeface="Calibri"/>
                <a:cs typeface="Calibri"/>
              </a:rPr>
              <a:t>עלייה של 2 נק׳ אחוז</a:t>
            </a:r>
          </a:p>
        </p:txBody>
      </p:sp>
      <p:sp>
        <p:nvSpPr>
          <p:cNvPr id="26" name="Rounded Rectangle 24"/>
          <p:cNvSpPr/>
          <p:nvPr/>
        </p:nvSpPr>
        <p:spPr>
          <a:xfrm>
            <a:off x="630935" y="1828800"/>
            <a:ext cx="2606040" cy="3566160"/>
          </a:xfrm>
          <a:prstGeom prst="roundRect">
            <a:avLst>
              <a:gd name="adj" fmla="val 2800"/>
            </a:avLst>
          </a:prstGeom>
          <a:solidFill>
            <a:srgbClr val="EEF1F7"/>
          </a:solidFill>
          <a:ln>
            <a:noFill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7" name="Oval 25"/>
          <p:cNvSpPr/>
          <p:nvPr/>
        </p:nvSpPr>
        <p:spPr>
          <a:xfrm>
            <a:off x="1568195" y="214884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6" descr="pie-1E2E5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2787" y="2313432"/>
            <a:ext cx="402336" cy="402336"/>
          </a:xfrm>
          <a:prstGeom prst="rect">
            <a:avLst/>
          </a:prstGeom>
        </p:spPr>
      </p:pic>
      <p:sp>
        <p:nvSpPr>
          <p:cNvPr id="29" name="TextBox 27"/>
          <p:cNvSpPr txBox="1"/>
          <p:nvPr/>
        </p:nvSpPr>
        <p:spPr>
          <a:xfrm>
            <a:off x="630935" y="3063240"/>
            <a:ext cx="2606040" cy="77724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>
              <a:buNone/>
            </a:pPr>
            <a:r>
              <a:rPr lang="he-IL" sz="3600" b="1" dirty="0">
                <a:solidFill>
                  <a:srgbClr val="1E2E57"/>
                </a:solidFill>
                <a:latin typeface="Calibri"/>
                <a:ea typeface="Calibri"/>
                <a:cs typeface="Calibri"/>
              </a:rPr>
              <a:t>₪4,100</a:t>
            </a:r>
          </a:p>
        </p:txBody>
      </p:sp>
      <p:sp>
        <p:nvSpPr>
          <p:cNvPr id="30" name="TextBox 28"/>
          <p:cNvSpPr txBox="1"/>
          <p:nvPr/>
        </p:nvSpPr>
        <p:spPr>
          <a:xfrm>
            <a:off x="630935" y="3840480"/>
            <a:ext cx="2606040" cy="41148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 rtl="1">
              <a:buNone/>
            </a:pPr>
            <a:r>
              <a:rPr lang="he-IL" sz="1600" b="1" dirty="0">
                <a:solidFill>
                  <a:srgbClr val="1B2233"/>
                </a:solidFill>
                <a:latin typeface="Calibri"/>
                <a:ea typeface="Calibri"/>
                <a:cs typeface="Calibri"/>
              </a:rPr>
              <a:t>עסקה ממוצעת</a:t>
            </a:r>
          </a:p>
        </p:txBody>
      </p:sp>
      <p:sp>
        <p:nvSpPr>
          <p:cNvPr id="31" name="Rounded Rectangle 29"/>
          <p:cNvSpPr/>
          <p:nvPr/>
        </p:nvSpPr>
        <p:spPr>
          <a:xfrm>
            <a:off x="905255" y="4480560"/>
            <a:ext cx="20574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0"/>
          <p:cNvSpPr txBox="1"/>
          <p:nvPr/>
        </p:nvSpPr>
        <p:spPr>
          <a:xfrm>
            <a:off x="905255" y="4480560"/>
            <a:ext cx="2057400" cy="45720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 rtl="1">
              <a:buNone/>
            </a:pPr>
            <a:r>
              <a:rPr lang="he-IL" sz="1200" b="1" dirty="0">
                <a:solidFill>
                  <a:srgbClr val="E04E3E"/>
                </a:solidFill>
                <a:latin typeface="Calibri"/>
                <a:ea typeface="Calibri"/>
                <a:cs typeface="Calibri"/>
              </a:rPr>
              <a:t>ירידה של 3%</a:t>
            </a:r>
          </a:p>
        </p:txBody>
      </p:sp>
      <p:sp>
        <p:nvSpPr>
          <p:cNvPr id="33" name="TextBox 31"/>
          <p:cNvSpPr txBox="1"/>
          <p:nvPr/>
        </p:nvSpPr>
        <p:spPr>
          <a:xfrm>
            <a:off x="640080" y="5715000"/>
            <a:ext cx="10908792" cy="36576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r" indent="0" marL="0" rtl="1">
              <a:buNone/>
            </a:pPr>
            <a:r>
              <a:rPr lang="he-IL" sz="1200" b="0" dirty="0">
                <a:solidFill>
                  <a:srgbClr val="6B7385"/>
                </a:solidFill>
                <a:latin typeface="Calibri"/>
                <a:ea typeface="Calibri"/>
                <a:cs typeface="Calibri"/>
              </a:rPr>
              <a:t>כל השינויים מחושבים לעומת רבעון 2 ·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r" indent="0" marL="0" rtl="1">
              <a:buNone/>
            </a:pPr>
            <a:r>
              <a:rPr lang="he-IL" sz="3200" b="1" dirty="0">
                <a:solidFill>
                  <a:srgbClr val="1E2E57"/>
                </a:solidFill>
                <a:latin typeface="Calibri"/>
                <a:ea typeface="Calibri"/>
                <a:cs typeface="Calibri"/>
              </a:rPr>
              <a:t>הכנסות לפי חודש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40080" y="1097280"/>
            <a:ext cx="10908792" cy="36576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r" indent="0" marL="0" rtl="1">
              <a:buNone/>
            </a:pPr>
            <a:r>
              <a:rPr lang="he-IL" sz="1400" b="0" dirty="0">
                <a:solidFill>
                  <a:srgbClr val="6B7385"/>
                </a:solidFill>
                <a:latin typeface="Calibri"/>
                <a:ea typeface="Calibri"/>
                <a:cs typeface="Calibri"/>
              </a:rPr>
              <a:t>ביצוע מול יעד בכל חודש ברבעון (באלפי ₪)</a:t>
            </a:r>
          </a:p>
        </p:txBody>
      </p:sp>
      <p:graphicFrame>
        <p:nvGraphicFramePr>
          <p:cNvPr id="5" name="Chart 3"/>
          <p:cNvGraphicFramePr>
            <a:graphicFrameLocks noGrp="1"/>
          </p:cNvGraphicFramePr>
          <p:nvPr/>
        </p:nvGraphicFramePr>
        <p:xfrm>
          <a:off x="4343400" y="1691640"/>
          <a:ext cx="7205472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4"/>
          <p:cNvSpPr/>
          <p:nvPr/>
        </p:nvSpPr>
        <p:spPr>
          <a:xfrm>
            <a:off x="640080" y="1691640"/>
            <a:ext cx="3429000" cy="4572000"/>
          </a:xfrm>
          <a:prstGeom prst="roundRect">
            <a:avLst>
              <a:gd name="adj" fmla="val 2800"/>
            </a:avLst>
          </a:prstGeom>
          <a:solidFill>
            <a:srgbClr val="141E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5"/>
          <p:cNvSpPr txBox="1"/>
          <p:nvPr/>
        </p:nvSpPr>
        <p:spPr>
          <a:xfrm>
            <a:off x="868680" y="1920240"/>
            <a:ext cx="2971800" cy="41148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r" indent="0" marL="0" rtl="1">
              <a:buNone/>
            </a:pPr>
            <a:r>
              <a:rPr lang="he-IL" sz="1400" b="1" dirty="0">
                <a:solidFill>
                  <a:srgbClr val="FF6F61"/>
                </a:solidFill>
                <a:latin typeface="Calibri"/>
                <a:ea typeface="Calibri"/>
                <a:cs typeface="Calibri"/>
              </a:rPr>
              <a:t>תובנה מרכזית</a:t>
            </a:r>
          </a:p>
        </p:txBody>
      </p:sp>
      <p:sp>
        <p:nvSpPr>
          <p:cNvPr id="8" name="TextBox 6"/>
          <p:cNvSpPr txBox="1"/>
          <p:nvPr/>
        </p:nvSpPr>
        <p:spPr>
          <a:xfrm>
            <a:off x="640080" y="2468880"/>
            <a:ext cx="3429000" cy="82296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>
              <a:buNone/>
            </a:pPr>
            <a:r>
              <a:rPr lang="he-IL" sz="4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+22%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868680" y="3291840"/>
            <a:ext cx="2971800" cy="41148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 rtl="1">
              <a:buNone/>
            </a:pPr>
            <a:r>
              <a:rPr lang="he-IL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מעל היעד בספטמבר</a:t>
            </a:r>
          </a:p>
        </p:txBody>
      </p:sp>
      <p:cxnSp>
        <p:nvCxnSpPr>
          <p:cNvPr id="10" name="Connector 8"/>
          <p:cNvCxnSpPr/>
          <p:nvPr/>
        </p:nvCxnSpPr>
        <p:spPr>
          <a:xfrm>
            <a:off x="1371600" y="3931920"/>
            <a:ext cx="1965960" cy="0"/>
          </a:xfrm>
          <a:prstGeom prst="line">
            <a:avLst/>
          </a:prstGeom>
          <a:ln w="12700">
            <a:solidFill>
              <a:srgbClr val="27396A"/>
            </a:solidFill>
          </a:ln>
        </p:spPr>
      </p:cxnSp>
      <p:sp>
        <p:nvSpPr>
          <p:cNvPr id="11" name="TextBox 9"/>
          <p:cNvSpPr txBox="1"/>
          <p:nvPr/>
        </p:nvSpPr>
        <p:spPr>
          <a:xfrm>
            <a:off x="868680" y="4114800"/>
            <a:ext cx="2971800" cy="1920240"/>
          </a:xfrm>
          <a:prstGeom prst="rect">
            <a:avLst/>
          </a:prstGeom>
          <a:noFill/>
        </p:spPr>
        <p:txBody>
          <a:bodyPr wrap="square" anchor="t" rtlCol="0">
            <a:spAutoFit/>
          </a:bodyPr>
          <a:lstStyle/>
          <a:p>
            <a:pPr algn="ctr" indent="0" marL="0" rtl="1">
              <a:lnSpc>
                <a:spcPct val="114999"/>
              </a:lnSpc>
              <a:buNone/>
            </a:pPr>
            <a:r>
              <a:rPr lang="he-IL" sz="1300" b="0" dirty="0">
                <a:solidFill>
                  <a:srgbClr val="D3DAEA"/>
                </a:solidFill>
                <a:latin typeface="Calibri"/>
                <a:ea typeface="Calibri"/>
                <a:cs typeface="Calibri"/>
              </a:rPr>
              <a:t>כתבו כאן במשפט או שניים מה הוביל לתוצאה — למשל קמפיין, לקוח גדול או שינוי במחירים.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r" indent="0" marL="0" rtl="1">
              <a:buNone/>
            </a:pPr>
            <a:r>
              <a:rPr lang="he-IL" sz="3200" b="1" dirty="0">
                <a:solidFill>
                  <a:srgbClr val="1E2E57"/>
                </a:solidFill>
                <a:latin typeface="Calibri"/>
                <a:ea typeface="Calibri"/>
                <a:cs typeface="Calibri"/>
              </a:rPr>
              <a:t>יעדים מול ביצוע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40080" y="1097280"/>
            <a:ext cx="10908792" cy="36576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r" indent="0" marL="0" rtl="1">
              <a:buNone/>
            </a:pPr>
            <a:r>
              <a:rPr lang="he-IL" sz="1400" b="0" dirty="0">
                <a:solidFill>
                  <a:srgbClr val="6B7385"/>
                </a:solidFill>
                <a:latin typeface="Calibri"/>
                <a:ea typeface="Calibri"/>
                <a:cs typeface="Calibri"/>
              </a:rPr>
              <a:t>עד כמה עמדנו ביעדים שהצבנו בתחילת הרבעון</a:t>
            </a:r>
          </a:p>
        </p:txBody>
      </p:sp>
      <p:graphicFrame>
        <p:nvGraphicFramePr>
          <p:cNvPr id="5" name="Table 3"/>
          <p:cNvGraphicFramePr>
            <a:graphicFrameLocks noGrp="1"/>
          </p:cNvGraphicFramePr>
          <p:nvPr/>
        </p:nvGraphicFramePr>
        <p:xfrm>
          <a:off x="640080" y="1783080"/>
          <a:ext cx="10908792" cy="340156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94560"/>
                <a:gridCol w="2011680"/>
                <a:gridCol w="1828800"/>
                <a:gridCol w="1828800"/>
                <a:gridCol w="3044952"/>
              </a:tblGrid>
              <a:tr h="566928">
                <a:tc>
                  <a:txBody>
                    <a:bodyPr/>
                    <a:lstStyle/>
                    <a:p>
                      <a:pPr algn="ctr" rtl="1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סטטוס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1EB"/>
                      </a:solidFill>
                    </a:lnB>
                    <a:solidFill>
                      <a:srgbClr val="1E2E5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עמידה ביעד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1EB"/>
                      </a:solidFill>
                    </a:lnB>
                    <a:solidFill>
                      <a:srgbClr val="1E2E5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ביצוע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1EB"/>
                      </a:solidFill>
                    </a:lnB>
                    <a:solidFill>
                      <a:srgbClr val="1E2E5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יעד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1EB"/>
                      </a:solidFill>
                    </a:lnB>
                    <a:solidFill>
                      <a:srgbClr val="1E2E57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מדד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1EB"/>
                      </a:solidFill>
                    </a:lnB>
                    <a:solidFill>
                      <a:srgbClr val="1E2E5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rtl="1"/>
                      <a:r>
                        <a:rPr sz="1500" b="1">
                          <a:solidFill>
                            <a:srgbClr val="1E8E5A"/>
                          </a:solidFill>
                          <a:latin typeface="Calibri"/>
                          <a:ea typeface="Calibri"/>
                          <a:cs typeface="Calibri"/>
                        </a:rPr>
                        <a:t>עמד ביעד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1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500" b="0">
                          <a:solidFill>
                            <a:srgbClr val="1B2233"/>
                          </a:solidFill>
                          <a:latin typeface="Calibri"/>
                          <a:ea typeface="Calibri"/>
                          <a:cs typeface="Calibri"/>
                        </a:rPr>
                        <a:t>107%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1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500" b="0">
                          <a:solidFill>
                            <a:srgbClr val="1B2233"/>
                          </a:solidFill>
                          <a:latin typeface="Calibri"/>
                          <a:ea typeface="Calibri"/>
                          <a:cs typeface="Calibri"/>
                        </a:rPr>
                        <a:t>₪1.28M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1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500" b="0">
                          <a:solidFill>
                            <a:srgbClr val="1B2233"/>
                          </a:solidFill>
                          <a:latin typeface="Calibri"/>
                          <a:ea typeface="Calibri"/>
                          <a:cs typeface="Calibri"/>
                        </a:rPr>
                        <a:t>₪1.20M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1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500" b="1">
                          <a:solidFill>
                            <a:srgbClr val="1B2233"/>
                          </a:solidFill>
                          <a:latin typeface="Calibri"/>
                          <a:ea typeface="Calibri"/>
                          <a:cs typeface="Calibri"/>
                        </a:rPr>
                        <a:t>הכנסות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1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rtl="1"/>
                      <a:r>
                        <a:rPr sz="1500" b="1">
                          <a:solidFill>
                            <a:srgbClr val="E04E3E"/>
                          </a:solidFill>
                          <a:latin typeface="Calibri"/>
                          <a:ea typeface="Calibri"/>
                          <a:cs typeface="Calibri"/>
                        </a:rPr>
                        <a:t>מתחת ליעד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1EB"/>
                      </a:solidFill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500" b="0">
                          <a:solidFill>
                            <a:srgbClr val="1B2233"/>
                          </a:solidFill>
                          <a:latin typeface="Calibri"/>
                          <a:ea typeface="Calibri"/>
                          <a:cs typeface="Calibri"/>
                        </a:rPr>
                        <a:t>80%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1EB"/>
                      </a:solidFill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500" b="0">
                          <a:solidFill>
                            <a:srgbClr val="1B2233"/>
                          </a:solidFill>
                          <a:latin typeface="Calibri"/>
                          <a:ea typeface="Calibri"/>
                          <a:cs typeface="Calibri"/>
                        </a:rPr>
                        <a:t>24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1EB"/>
                      </a:solidFill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500" b="0">
                          <a:solidFill>
                            <a:srgbClr val="1B2233"/>
                          </a:solidFill>
                          <a:latin typeface="Calibri"/>
                          <a:ea typeface="Calibri"/>
                          <a:cs typeface="Calibri"/>
                        </a:rPr>
                        <a:t>30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1EB"/>
                      </a:solidFill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500" b="1">
                          <a:solidFill>
                            <a:srgbClr val="1B2233"/>
                          </a:solidFill>
                          <a:latin typeface="Calibri"/>
                          <a:ea typeface="Calibri"/>
                          <a:cs typeface="Calibri"/>
                        </a:rPr>
                        <a:t>לקוחות חדשים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1EB"/>
                      </a:solidFill>
                    </a:lnB>
                    <a:solidFill>
                      <a:srgbClr val="EEF1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rtl="1"/>
                      <a:r>
                        <a:rPr sz="1500" b="1">
                          <a:solidFill>
                            <a:srgbClr val="1E8E5A"/>
                          </a:solidFill>
                          <a:latin typeface="Calibri"/>
                          <a:ea typeface="Calibri"/>
                          <a:cs typeface="Calibri"/>
                        </a:rPr>
                        <a:t>עמד ביעד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1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500" b="0">
                          <a:solidFill>
                            <a:srgbClr val="1B2233"/>
                          </a:solidFill>
                          <a:latin typeface="Calibri"/>
                          <a:ea typeface="Calibri"/>
                          <a:cs typeface="Calibri"/>
                        </a:rPr>
                        <a:t>102%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1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500" b="0">
                          <a:solidFill>
                            <a:srgbClr val="1B2233"/>
                          </a:solidFill>
                          <a:latin typeface="Calibri"/>
                          <a:ea typeface="Calibri"/>
                          <a:cs typeface="Calibri"/>
                        </a:rPr>
                        <a:t>94%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1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500" b="0">
                          <a:solidFill>
                            <a:srgbClr val="1B2233"/>
                          </a:solidFill>
                          <a:latin typeface="Calibri"/>
                          <a:ea typeface="Calibri"/>
                          <a:cs typeface="Calibri"/>
                        </a:rPr>
                        <a:t>92%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1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500" b="1">
                          <a:solidFill>
                            <a:srgbClr val="1B2233"/>
                          </a:solidFill>
                          <a:latin typeface="Calibri"/>
                          <a:ea typeface="Calibri"/>
                          <a:cs typeface="Calibri"/>
                        </a:rPr>
                        <a:t>שימור לקוחות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1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rtl="1"/>
                      <a:r>
                        <a:rPr sz="1500" b="1">
                          <a:solidFill>
                            <a:srgbClr val="B7791F"/>
                          </a:solidFill>
                          <a:latin typeface="Calibri"/>
                          <a:ea typeface="Calibri"/>
                          <a:cs typeface="Calibri"/>
                        </a:rPr>
                        <a:t>קרוב ליעד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1EB"/>
                      </a:solidFill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500" b="0">
                          <a:solidFill>
                            <a:srgbClr val="1B2233"/>
                          </a:solidFill>
                          <a:latin typeface="Calibri"/>
                          <a:ea typeface="Calibri"/>
                          <a:cs typeface="Calibri"/>
                        </a:rPr>
                        <a:t>95%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1EB"/>
                      </a:solidFill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500" b="0">
                          <a:solidFill>
                            <a:srgbClr val="1B2233"/>
                          </a:solidFill>
                          <a:latin typeface="Calibri"/>
                          <a:ea typeface="Calibri"/>
                          <a:cs typeface="Calibri"/>
                        </a:rPr>
                        <a:t>₪4,100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1EB"/>
                      </a:solidFill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500" b="0">
                          <a:solidFill>
                            <a:srgbClr val="1B2233"/>
                          </a:solidFill>
                          <a:latin typeface="Calibri"/>
                          <a:ea typeface="Calibri"/>
                          <a:cs typeface="Calibri"/>
                        </a:rPr>
                        <a:t>₪4,300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1EB"/>
                      </a:solidFill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500" b="1">
                          <a:solidFill>
                            <a:srgbClr val="1B2233"/>
                          </a:solidFill>
                          <a:latin typeface="Calibri"/>
                          <a:ea typeface="Calibri"/>
                          <a:cs typeface="Calibri"/>
                        </a:rPr>
                        <a:t>עסקה ממוצעת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1EB"/>
                      </a:solidFill>
                    </a:lnB>
                    <a:solidFill>
                      <a:srgbClr val="EEF1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rtl="1"/>
                      <a:r>
                        <a:rPr sz="1500" b="1">
                          <a:solidFill>
                            <a:srgbClr val="1E8E5A"/>
                          </a:solidFill>
                          <a:latin typeface="Calibri"/>
                          <a:ea typeface="Calibri"/>
                          <a:cs typeface="Calibri"/>
                        </a:rPr>
                        <a:t>עמד ביעד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1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500" b="0">
                          <a:solidFill>
                            <a:srgbClr val="1B2233"/>
                          </a:solidFill>
                          <a:latin typeface="Calibri"/>
                          <a:ea typeface="Calibri"/>
                          <a:cs typeface="Calibri"/>
                        </a:rPr>
                        <a:t>112%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1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500" b="0">
                          <a:solidFill>
                            <a:srgbClr val="1B2233"/>
                          </a:solidFill>
                          <a:latin typeface="Calibri"/>
                          <a:ea typeface="Calibri"/>
                          <a:cs typeface="Calibri"/>
                        </a:rPr>
                        <a:t>56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1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500" b="0">
                          <a:solidFill>
                            <a:srgbClr val="1B2233"/>
                          </a:solidFill>
                          <a:latin typeface="Calibri"/>
                          <a:ea typeface="Calibri"/>
                          <a:cs typeface="Calibri"/>
                        </a:rPr>
                        <a:t>50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1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500" b="1">
                          <a:solidFill>
                            <a:srgbClr val="1B2233"/>
                          </a:solidFill>
                          <a:latin typeface="Calibri"/>
                          <a:ea typeface="Calibri"/>
                          <a:cs typeface="Calibri"/>
                        </a:rPr>
                        <a:t>שביעות רצון (NPS)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CE1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4"/>
          <p:cNvSpPr txBox="1"/>
          <p:nvPr/>
        </p:nvSpPr>
        <p:spPr>
          <a:xfrm>
            <a:off x="640080" y="5486400"/>
            <a:ext cx="10908792" cy="36576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r" indent="0" marL="0" rtl="1">
              <a:buNone/>
            </a:pPr>
            <a:r>
              <a:rPr lang="he-IL" sz="1200" b="0" dirty="0">
                <a:solidFill>
                  <a:srgbClr val="6B7385"/>
                </a:solidFill>
                <a:latin typeface="Calibri"/>
                <a:ea typeface="Calibri"/>
                <a:cs typeface="Calibri"/>
              </a:rPr>
              <a:t>סטטוס: ירוק — עמד ביעד · כתום — קרוב ליעד · אדום — מתחת ליעד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r" indent="0" marL="0" rtl="1">
              <a:buNone/>
            </a:pPr>
            <a:r>
              <a:rPr lang="he-IL" sz="3200" b="1" dirty="0">
                <a:solidFill>
                  <a:srgbClr val="1E2E57"/>
                </a:solidFill>
                <a:latin typeface="Calibri"/>
                <a:ea typeface="Calibri"/>
                <a:cs typeface="Calibri"/>
              </a:rPr>
              <a:t>מה עבד ומה לשפר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40080" y="1097280"/>
            <a:ext cx="10908792" cy="36576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r" indent="0" marL="0" rtl="1">
              <a:buNone/>
            </a:pPr>
            <a:r>
              <a:rPr lang="he-IL" sz="1400" b="0" dirty="0">
                <a:solidFill>
                  <a:srgbClr val="6B7385"/>
                </a:solidFill>
                <a:latin typeface="Calibri"/>
                <a:ea typeface="Calibri"/>
                <a:cs typeface="Calibri"/>
              </a:rPr>
              <a:t>הלקחים העיקריים מהרבעון — בכנות, כדי שהרבעון הבא יהיה טוב יותר</a:t>
            </a:r>
          </a:p>
        </p:txBody>
      </p:sp>
      <p:sp>
        <p:nvSpPr>
          <p:cNvPr id="5" name="Rounded Rectangle 3"/>
          <p:cNvSpPr/>
          <p:nvPr/>
        </p:nvSpPr>
        <p:spPr>
          <a:xfrm>
            <a:off x="6245352" y="1828800"/>
            <a:ext cx="5303520" cy="4297680"/>
          </a:xfrm>
          <a:prstGeom prst="roundRect">
            <a:avLst>
              <a:gd name="adj" fmla="val 2800"/>
            </a:avLst>
          </a:prstGeom>
          <a:solidFill>
            <a:srgbClr val="EEF1F7"/>
          </a:solidFill>
          <a:ln>
            <a:noFill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Oval 4"/>
          <p:cNvSpPr/>
          <p:nvPr/>
        </p:nvSpPr>
        <p:spPr>
          <a:xfrm>
            <a:off x="10680192" y="210312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5" descr="check-1E2E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4210" y="2247137"/>
            <a:ext cx="352044" cy="352044"/>
          </a:xfrm>
          <a:prstGeom prst="rect">
            <a:avLst/>
          </a:prstGeom>
        </p:spPr>
      </p:pic>
      <p:sp>
        <p:nvSpPr>
          <p:cNvPr id="8" name="TextBox 6"/>
          <p:cNvSpPr txBox="1"/>
          <p:nvPr/>
        </p:nvSpPr>
        <p:spPr>
          <a:xfrm>
            <a:off x="6519672" y="2148840"/>
            <a:ext cx="4023360" cy="54864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r" indent="0" marL="0" rtl="1">
              <a:buNone/>
            </a:pPr>
            <a:r>
              <a:rPr lang="he-IL" sz="2200" b="1" dirty="0">
                <a:solidFill>
                  <a:srgbClr val="1E2E57"/>
                </a:solidFill>
                <a:latin typeface="Calibri"/>
                <a:ea typeface="Calibri"/>
                <a:cs typeface="Calibri"/>
              </a:rPr>
              <a:t>מה עבד</a:t>
            </a:r>
          </a:p>
        </p:txBody>
      </p:sp>
      <p:sp>
        <p:nvSpPr>
          <p:cNvPr id="9" name="Oval 7"/>
          <p:cNvSpPr/>
          <p:nvPr/>
        </p:nvSpPr>
        <p:spPr>
          <a:xfrm>
            <a:off x="11091672" y="3182112"/>
            <a:ext cx="219456" cy="219456"/>
          </a:xfrm>
          <a:prstGeom prst="ellipse">
            <a:avLst/>
          </a:prstGeom>
          <a:solidFill>
            <a:srgbClr val="1E2E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8"/>
          <p:cNvSpPr txBox="1"/>
          <p:nvPr/>
        </p:nvSpPr>
        <p:spPr>
          <a:xfrm>
            <a:off x="6519672" y="3063240"/>
            <a:ext cx="4434840" cy="731520"/>
          </a:xfrm>
          <a:prstGeom prst="rect">
            <a:avLst/>
          </a:prstGeom>
          <a:noFill/>
        </p:spPr>
        <p:txBody>
          <a:bodyPr wrap="square" anchor="t" rtlCol="0">
            <a:spAutoFit/>
          </a:bodyPr>
          <a:lstStyle/>
          <a:p>
            <a:pPr algn="r" indent="0" marL="0" rtl="1">
              <a:lnSpc>
                <a:spcPct val="110000"/>
              </a:lnSpc>
              <a:buNone/>
            </a:pPr>
            <a:r>
              <a:rPr lang="he-IL" sz="1600" b="0" dirty="0">
                <a:solidFill>
                  <a:srgbClr val="1B2233"/>
                </a:solidFill>
                <a:latin typeface="Calibri"/>
                <a:ea typeface="Calibri"/>
                <a:cs typeface="Calibri"/>
              </a:rPr>
              <a:t>קמפיין הסתיו הביא 40% יותר פניות מהצפוי</a:t>
            </a:r>
          </a:p>
        </p:txBody>
      </p:sp>
      <p:sp>
        <p:nvSpPr>
          <p:cNvPr id="11" name="Oval 9"/>
          <p:cNvSpPr/>
          <p:nvPr/>
        </p:nvSpPr>
        <p:spPr>
          <a:xfrm>
            <a:off x="11091672" y="4096512"/>
            <a:ext cx="219456" cy="219456"/>
          </a:xfrm>
          <a:prstGeom prst="ellipse">
            <a:avLst/>
          </a:prstGeom>
          <a:solidFill>
            <a:srgbClr val="1E2E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0"/>
          <p:cNvSpPr txBox="1"/>
          <p:nvPr/>
        </p:nvSpPr>
        <p:spPr>
          <a:xfrm>
            <a:off x="6519672" y="3977640"/>
            <a:ext cx="4434840" cy="731520"/>
          </a:xfrm>
          <a:prstGeom prst="rect">
            <a:avLst/>
          </a:prstGeom>
          <a:noFill/>
        </p:spPr>
        <p:txBody>
          <a:bodyPr wrap="square" anchor="t" rtlCol="0">
            <a:spAutoFit/>
          </a:bodyPr>
          <a:lstStyle/>
          <a:p>
            <a:pPr algn="r" indent="0" marL="0" rtl="1">
              <a:lnSpc>
                <a:spcPct val="110000"/>
              </a:lnSpc>
              <a:buNone/>
            </a:pPr>
            <a:r>
              <a:rPr lang="he-IL" sz="1600" b="0" dirty="0">
                <a:solidFill>
                  <a:srgbClr val="1B2233"/>
                </a:solidFill>
                <a:latin typeface="Calibri"/>
                <a:ea typeface="Calibri"/>
                <a:cs typeface="Calibri"/>
              </a:rPr>
              <a:t>זמן המענה ללקוחות ירד לפחות מ-4 שעות</a:t>
            </a:r>
          </a:p>
        </p:txBody>
      </p:sp>
      <p:sp>
        <p:nvSpPr>
          <p:cNvPr id="13" name="Oval 11"/>
          <p:cNvSpPr/>
          <p:nvPr/>
        </p:nvSpPr>
        <p:spPr>
          <a:xfrm>
            <a:off x="11091672" y="5010912"/>
            <a:ext cx="219456" cy="219456"/>
          </a:xfrm>
          <a:prstGeom prst="ellipse">
            <a:avLst/>
          </a:prstGeom>
          <a:solidFill>
            <a:srgbClr val="1E2E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2"/>
          <p:cNvSpPr txBox="1"/>
          <p:nvPr/>
        </p:nvSpPr>
        <p:spPr>
          <a:xfrm>
            <a:off x="6519672" y="4892040"/>
            <a:ext cx="4434840" cy="731520"/>
          </a:xfrm>
          <a:prstGeom prst="rect">
            <a:avLst/>
          </a:prstGeom>
          <a:noFill/>
        </p:spPr>
        <p:txBody>
          <a:bodyPr wrap="square" anchor="t" rtlCol="0">
            <a:spAutoFit/>
          </a:bodyPr>
          <a:lstStyle/>
          <a:p>
            <a:pPr algn="r" indent="0" marL="0" rtl="1">
              <a:lnSpc>
                <a:spcPct val="110000"/>
              </a:lnSpc>
              <a:buNone/>
            </a:pPr>
            <a:r>
              <a:rPr lang="he-IL" sz="1600" b="0" dirty="0">
                <a:solidFill>
                  <a:srgbClr val="1B2233"/>
                </a:solidFill>
                <a:latin typeface="Calibri"/>
                <a:ea typeface="Calibri"/>
                <a:cs typeface="Calibri"/>
              </a:rPr>
              <a:t>שני לקוחות גדולים הרחיבו את ההתקשרות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640080" y="1828800"/>
            <a:ext cx="5303520" cy="4297680"/>
          </a:xfrm>
          <a:prstGeom prst="roundRect">
            <a:avLst>
              <a:gd name="adj" fmla="val 2800"/>
            </a:avLst>
          </a:prstGeom>
          <a:solidFill>
            <a:srgbClr val="FFEDEA"/>
          </a:solidFill>
          <a:ln>
            <a:noFill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6" name="Oval 14"/>
          <p:cNvSpPr/>
          <p:nvPr/>
        </p:nvSpPr>
        <p:spPr>
          <a:xfrm>
            <a:off x="5074920" y="210312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5" descr="target-E04E3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8938" y="2247137"/>
            <a:ext cx="352044" cy="352044"/>
          </a:xfrm>
          <a:prstGeom prst="rect">
            <a:avLst/>
          </a:prstGeom>
        </p:spPr>
      </p:pic>
      <p:sp>
        <p:nvSpPr>
          <p:cNvPr id="18" name="TextBox 16"/>
          <p:cNvSpPr txBox="1"/>
          <p:nvPr/>
        </p:nvSpPr>
        <p:spPr>
          <a:xfrm>
            <a:off x="914400" y="2148840"/>
            <a:ext cx="4023360" cy="54864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r" indent="0" marL="0" rtl="1">
              <a:buNone/>
            </a:pPr>
            <a:r>
              <a:rPr lang="he-IL" sz="2200" b="1" dirty="0">
                <a:solidFill>
                  <a:srgbClr val="E04E3E"/>
                </a:solidFill>
                <a:latin typeface="Calibri"/>
                <a:ea typeface="Calibri"/>
                <a:cs typeface="Calibri"/>
              </a:rPr>
              <a:t>מה לשפר</a:t>
            </a:r>
          </a:p>
        </p:txBody>
      </p:sp>
      <p:sp>
        <p:nvSpPr>
          <p:cNvPr id="19" name="Oval 17"/>
          <p:cNvSpPr/>
          <p:nvPr/>
        </p:nvSpPr>
        <p:spPr>
          <a:xfrm>
            <a:off x="5486400" y="3182112"/>
            <a:ext cx="219456" cy="219456"/>
          </a:xfrm>
          <a:prstGeom prst="ellipse">
            <a:avLst/>
          </a:prstGeom>
          <a:solidFill>
            <a:srgbClr val="E04E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8"/>
          <p:cNvSpPr txBox="1"/>
          <p:nvPr/>
        </p:nvSpPr>
        <p:spPr>
          <a:xfrm>
            <a:off x="914400" y="3063240"/>
            <a:ext cx="4434840" cy="731520"/>
          </a:xfrm>
          <a:prstGeom prst="rect">
            <a:avLst/>
          </a:prstGeom>
          <a:noFill/>
        </p:spPr>
        <p:txBody>
          <a:bodyPr wrap="square" anchor="t" rtlCol="0">
            <a:spAutoFit/>
          </a:bodyPr>
          <a:lstStyle/>
          <a:p>
            <a:pPr algn="r" indent="0" marL="0" rtl="1">
              <a:lnSpc>
                <a:spcPct val="110000"/>
              </a:lnSpc>
              <a:buNone/>
            </a:pPr>
            <a:r>
              <a:rPr lang="he-IL" sz="1600" b="0" dirty="0">
                <a:solidFill>
                  <a:srgbClr val="1B2233"/>
                </a:solidFill>
                <a:latin typeface="Calibri"/>
                <a:ea typeface="Calibri"/>
                <a:cs typeface="Calibri"/>
              </a:rPr>
              <a:t>גיוס לקוחות חדשים נשאר מתחת ליעד</a:t>
            </a:r>
          </a:p>
        </p:txBody>
      </p:sp>
      <p:sp>
        <p:nvSpPr>
          <p:cNvPr id="21" name="Oval 19"/>
          <p:cNvSpPr/>
          <p:nvPr/>
        </p:nvSpPr>
        <p:spPr>
          <a:xfrm>
            <a:off x="5486400" y="4096512"/>
            <a:ext cx="219456" cy="219456"/>
          </a:xfrm>
          <a:prstGeom prst="ellipse">
            <a:avLst/>
          </a:prstGeom>
          <a:solidFill>
            <a:srgbClr val="E04E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0"/>
          <p:cNvSpPr txBox="1"/>
          <p:nvPr/>
        </p:nvSpPr>
        <p:spPr>
          <a:xfrm>
            <a:off x="914400" y="3977640"/>
            <a:ext cx="4434840" cy="731520"/>
          </a:xfrm>
          <a:prstGeom prst="rect">
            <a:avLst/>
          </a:prstGeom>
          <a:noFill/>
        </p:spPr>
        <p:txBody>
          <a:bodyPr wrap="square" anchor="t" rtlCol="0">
            <a:spAutoFit/>
          </a:bodyPr>
          <a:lstStyle/>
          <a:p>
            <a:pPr algn="r" indent="0" marL="0" rtl="1">
              <a:lnSpc>
                <a:spcPct val="110000"/>
              </a:lnSpc>
              <a:buNone/>
            </a:pPr>
            <a:r>
              <a:rPr lang="he-IL" sz="1600" b="0" dirty="0">
                <a:solidFill>
                  <a:srgbClr val="1B2233"/>
                </a:solidFill>
                <a:latin typeface="Calibri"/>
                <a:ea typeface="Calibri"/>
                <a:cs typeface="Calibri"/>
              </a:rPr>
              <a:t>מחזור המכירה התארך בשבוע בממוצע</a:t>
            </a:r>
          </a:p>
        </p:txBody>
      </p:sp>
      <p:sp>
        <p:nvSpPr>
          <p:cNvPr id="23" name="Oval 21"/>
          <p:cNvSpPr/>
          <p:nvPr/>
        </p:nvSpPr>
        <p:spPr>
          <a:xfrm>
            <a:off x="5486400" y="5010912"/>
            <a:ext cx="219456" cy="219456"/>
          </a:xfrm>
          <a:prstGeom prst="ellipse">
            <a:avLst/>
          </a:prstGeom>
          <a:solidFill>
            <a:srgbClr val="E04E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2"/>
          <p:cNvSpPr txBox="1"/>
          <p:nvPr/>
        </p:nvSpPr>
        <p:spPr>
          <a:xfrm>
            <a:off x="914400" y="4892040"/>
            <a:ext cx="4434840" cy="731520"/>
          </a:xfrm>
          <a:prstGeom prst="rect">
            <a:avLst/>
          </a:prstGeom>
          <a:noFill/>
        </p:spPr>
        <p:txBody>
          <a:bodyPr wrap="square" anchor="t" rtlCol="0">
            <a:spAutoFit/>
          </a:bodyPr>
          <a:lstStyle/>
          <a:p>
            <a:pPr algn="r" indent="0" marL="0" rtl="1">
              <a:lnSpc>
                <a:spcPct val="110000"/>
              </a:lnSpc>
              <a:buNone/>
            </a:pPr>
            <a:r>
              <a:rPr lang="he-IL" sz="1600" b="0" dirty="0">
                <a:solidFill>
                  <a:srgbClr val="1B2233"/>
                </a:solidFill>
                <a:latin typeface="Calibri"/>
                <a:ea typeface="Calibri"/>
                <a:cs typeface="Calibri"/>
              </a:rPr>
              <a:t>חסרה מדידה סדורה של מקורות הלידים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r" indent="0" marL="0" rtl="1">
              <a:buNone/>
            </a:pPr>
            <a:r>
              <a:rPr lang="he-IL" sz="3200" b="1" dirty="0">
                <a:solidFill>
                  <a:srgbClr val="1E2E57"/>
                </a:solidFill>
                <a:latin typeface="Calibri"/>
                <a:ea typeface="Calibri"/>
                <a:cs typeface="Calibri"/>
              </a:rPr>
              <a:t>לקוחות ופרויקטים בולטים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40080" y="1097280"/>
            <a:ext cx="10908792" cy="36576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r" indent="0" marL="0" rtl="1">
              <a:buNone/>
            </a:pPr>
            <a:r>
              <a:rPr lang="he-IL" sz="1400" b="0" dirty="0">
                <a:solidFill>
                  <a:srgbClr val="6B7385"/>
                </a:solidFill>
                <a:latin typeface="Calibri"/>
                <a:ea typeface="Calibri"/>
                <a:cs typeface="Calibri"/>
              </a:rPr>
              <a:t>שלושה סיפורי הצלחה מהרבעון שכדאי להכיר</a:t>
            </a:r>
          </a:p>
        </p:txBody>
      </p:sp>
      <p:sp>
        <p:nvSpPr>
          <p:cNvPr id="5" name="Rounded Rectangle 3"/>
          <p:cNvSpPr/>
          <p:nvPr/>
        </p:nvSpPr>
        <p:spPr>
          <a:xfrm>
            <a:off x="8211312" y="1828800"/>
            <a:ext cx="3337560" cy="3657600"/>
          </a:xfrm>
          <a:prstGeom prst="roundRect">
            <a:avLst>
              <a:gd name="adj" fmla="val 2800"/>
            </a:avLst>
          </a:prstGeom>
          <a:solidFill>
            <a:srgbClr val="EEF1F7"/>
          </a:solidFill>
          <a:ln>
            <a:noFill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Oval 4"/>
          <p:cNvSpPr/>
          <p:nvPr/>
        </p:nvSpPr>
        <p:spPr>
          <a:xfrm>
            <a:off x="10588752" y="2103120"/>
            <a:ext cx="685800" cy="685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5" descr="award-1E2E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3057" y="2257425"/>
            <a:ext cx="377190" cy="377190"/>
          </a:xfrm>
          <a:prstGeom prst="rect">
            <a:avLst/>
          </a:prstGeom>
        </p:spPr>
      </p:pic>
      <p:sp>
        <p:nvSpPr>
          <p:cNvPr id="8" name="TextBox 6"/>
          <p:cNvSpPr txBox="1"/>
          <p:nvPr/>
        </p:nvSpPr>
        <p:spPr>
          <a:xfrm>
            <a:off x="8485632" y="2103120"/>
            <a:ext cx="2011680" cy="68580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l" indent="0" marL="0">
              <a:buNone/>
            </a:pPr>
            <a:r>
              <a:rPr lang="he-IL" sz="2600" b="1" dirty="0">
                <a:solidFill>
                  <a:srgbClr val="E04E3E"/>
                </a:solidFill>
                <a:latin typeface="Calibri"/>
                <a:ea typeface="Calibri"/>
                <a:cs typeface="Calibri"/>
              </a:rPr>
              <a:t>₪180K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8439912" y="3017520"/>
            <a:ext cx="2880360" cy="45720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r" indent="0" marL="0" rtl="1">
              <a:buNone/>
            </a:pPr>
            <a:r>
              <a:rPr lang="he-IL" sz="2000" b="1" dirty="0">
                <a:solidFill>
                  <a:srgbClr val="1B2233"/>
                </a:solidFill>
                <a:latin typeface="Calibri"/>
                <a:ea typeface="Calibri"/>
                <a:cs typeface="Calibri"/>
              </a:rPr>
              <a:t>שם הלקוח</a:t>
            </a:r>
          </a:p>
        </p:txBody>
      </p:sp>
      <p:sp>
        <p:nvSpPr>
          <p:cNvPr id="10" name="TextBox 8"/>
          <p:cNvSpPr txBox="1"/>
          <p:nvPr/>
        </p:nvSpPr>
        <p:spPr>
          <a:xfrm>
            <a:off x="8439912" y="3474720"/>
            <a:ext cx="2880360" cy="36576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r" indent="0" marL="0" rtl="1">
              <a:buNone/>
            </a:pPr>
            <a:r>
              <a:rPr lang="he-IL" sz="1300" b="1" dirty="0">
                <a:solidFill>
                  <a:srgbClr val="1E2E57"/>
                </a:solidFill>
                <a:latin typeface="Calibri"/>
                <a:ea typeface="Calibri"/>
                <a:cs typeface="Calibri"/>
              </a:rPr>
              <a:t>תחום: קמעונאות</a:t>
            </a:r>
          </a:p>
        </p:txBody>
      </p:sp>
      <p:cxnSp>
        <p:nvCxnSpPr>
          <p:cNvPr id="11" name="Connector 9"/>
          <p:cNvCxnSpPr/>
          <p:nvPr/>
        </p:nvCxnSpPr>
        <p:spPr>
          <a:xfrm>
            <a:off x="8531352" y="3977639"/>
            <a:ext cx="2697480" cy="0"/>
          </a:xfrm>
          <a:prstGeom prst="line">
            <a:avLst/>
          </a:prstGeom>
          <a:ln w="12700">
            <a:solidFill>
              <a:srgbClr val="D3D9E6"/>
            </a:solidFill>
          </a:ln>
        </p:spPr>
      </p:cxnSp>
      <p:sp>
        <p:nvSpPr>
          <p:cNvPr id="12" name="TextBox 10"/>
          <p:cNvSpPr txBox="1"/>
          <p:nvPr/>
        </p:nvSpPr>
        <p:spPr>
          <a:xfrm>
            <a:off x="8439912" y="4114800"/>
            <a:ext cx="2880360" cy="1463040"/>
          </a:xfrm>
          <a:prstGeom prst="rect">
            <a:avLst/>
          </a:prstGeom>
          <a:noFill/>
        </p:spPr>
        <p:txBody>
          <a:bodyPr wrap="square" anchor="t" rtlCol="0">
            <a:spAutoFit/>
          </a:bodyPr>
          <a:lstStyle/>
          <a:p>
            <a:pPr algn="r" indent="0" marL="0" rtl="1">
              <a:lnSpc>
                <a:spcPct val="114999"/>
              </a:lnSpc>
              <a:buNone/>
            </a:pPr>
            <a:r>
              <a:rPr lang="he-IL" sz="1400" b="0" dirty="0">
                <a:solidFill>
                  <a:srgbClr val="6B7385"/>
                </a:solidFill>
                <a:latin typeface="Calibri"/>
                <a:ea typeface="Calibri"/>
                <a:cs typeface="Calibri"/>
              </a:rPr>
              <a:t>הטמעת המערכת בשלושה סניפים, כולל הדרכת צוות</a:t>
            </a:r>
          </a:p>
        </p:txBody>
      </p:sp>
      <p:sp>
        <p:nvSpPr>
          <p:cNvPr id="13" name="Rounded Rectangle 11"/>
          <p:cNvSpPr/>
          <p:nvPr/>
        </p:nvSpPr>
        <p:spPr>
          <a:xfrm>
            <a:off x="4425696" y="1828800"/>
            <a:ext cx="3337560" cy="3657600"/>
          </a:xfrm>
          <a:prstGeom prst="roundRect">
            <a:avLst>
              <a:gd name="adj" fmla="val 2800"/>
            </a:avLst>
          </a:prstGeom>
          <a:solidFill>
            <a:srgbClr val="EEF1F7"/>
          </a:solidFill>
          <a:ln>
            <a:noFill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Oval 12"/>
          <p:cNvSpPr/>
          <p:nvPr/>
        </p:nvSpPr>
        <p:spPr>
          <a:xfrm>
            <a:off x="6803136" y="2103120"/>
            <a:ext cx="685800" cy="685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3" descr="star-1E2E5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7441" y="2257425"/>
            <a:ext cx="377190" cy="377190"/>
          </a:xfrm>
          <a:prstGeom prst="rect">
            <a:avLst/>
          </a:prstGeom>
        </p:spPr>
      </p:pic>
      <p:sp>
        <p:nvSpPr>
          <p:cNvPr id="16" name="TextBox 14"/>
          <p:cNvSpPr txBox="1"/>
          <p:nvPr/>
        </p:nvSpPr>
        <p:spPr>
          <a:xfrm>
            <a:off x="4700016" y="2103120"/>
            <a:ext cx="2011680" cy="68580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l" indent="0" marL="0">
              <a:buNone/>
            </a:pPr>
            <a:r>
              <a:rPr lang="he-IL" sz="2600" b="1" dirty="0">
                <a:solidFill>
                  <a:srgbClr val="E04E3E"/>
                </a:solidFill>
                <a:latin typeface="Calibri"/>
                <a:ea typeface="Calibri"/>
                <a:cs typeface="Calibri"/>
              </a:rPr>
              <a:t>₪120K</a:t>
            </a:r>
          </a:p>
        </p:txBody>
      </p:sp>
      <p:sp>
        <p:nvSpPr>
          <p:cNvPr id="17" name="TextBox 15"/>
          <p:cNvSpPr txBox="1"/>
          <p:nvPr/>
        </p:nvSpPr>
        <p:spPr>
          <a:xfrm>
            <a:off x="4654296" y="3017520"/>
            <a:ext cx="2880360" cy="45720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r" indent="0" marL="0" rtl="1">
              <a:buNone/>
            </a:pPr>
            <a:r>
              <a:rPr lang="he-IL" sz="2000" b="1" dirty="0">
                <a:solidFill>
                  <a:srgbClr val="1B2233"/>
                </a:solidFill>
                <a:latin typeface="Calibri"/>
                <a:ea typeface="Calibri"/>
                <a:cs typeface="Calibri"/>
              </a:rPr>
              <a:t>שם הלקוח</a:t>
            </a:r>
          </a:p>
        </p:txBody>
      </p:sp>
      <p:sp>
        <p:nvSpPr>
          <p:cNvPr id="18" name="TextBox 16"/>
          <p:cNvSpPr txBox="1"/>
          <p:nvPr/>
        </p:nvSpPr>
        <p:spPr>
          <a:xfrm>
            <a:off x="4654296" y="3474720"/>
            <a:ext cx="2880360" cy="36576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r" indent="0" marL="0" rtl="1">
              <a:buNone/>
            </a:pPr>
            <a:r>
              <a:rPr lang="he-IL" sz="1300" b="1" dirty="0">
                <a:solidFill>
                  <a:srgbClr val="1E2E57"/>
                </a:solidFill>
                <a:latin typeface="Calibri"/>
                <a:ea typeface="Calibri"/>
                <a:cs typeface="Calibri"/>
              </a:rPr>
              <a:t>תחום: שירותים פיננסיים</a:t>
            </a:r>
          </a:p>
        </p:txBody>
      </p:sp>
      <p:cxnSp>
        <p:nvCxnSpPr>
          <p:cNvPr id="19" name="Connector 17"/>
          <p:cNvCxnSpPr/>
          <p:nvPr/>
        </p:nvCxnSpPr>
        <p:spPr>
          <a:xfrm>
            <a:off x="4745736" y="3977639"/>
            <a:ext cx="2697480" cy="0"/>
          </a:xfrm>
          <a:prstGeom prst="line">
            <a:avLst/>
          </a:prstGeom>
          <a:ln w="12700">
            <a:solidFill>
              <a:srgbClr val="D3D9E6"/>
            </a:solidFill>
          </a:ln>
        </p:spPr>
      </p:cxnSp>
      <p:sp>
        <p:nvSpPr>
          <p:cNvPr id="20" name="TextBox 18"/>
          <p:cNvSpPr txBox="1"/>
          <p:nvPr/>
        </p:nvSpPr>
        <p:spPr>
          <a:xfrm>
            <a:off x="4654296" y="4114800"/>
            <a:ext cx="2880360" cy="1463040"/>
          </a:xfrm>
          <a:prstGeom prst="rect">
            <a:avLst/>
          </a:prstGeom>
          <a:noFill/>
        </p:spPr>
        <p:txBody>
          <a:bodyPr wrap="square" anchor="t" rtlCol="0">
            <a:spAutoFit/>
          </a:bodyPr>
          <a:lstStyle/>
          <a:p>
            <a:pPr algn="r" indent="0" marL="0" rtl="1">
              <a:lnSpc>
                <a:spcPct val="114999"/>
              </a:lnSpc>
              <a:buNone/>
            </a:pPr>
            <a:r>
              <a:rPr lang="he-IL" sz="1400" b="0" dirty="0">
                <a:solidFill>
                  <a:srgbClr val="6B7385"/>
                </a:solidFill>
                <a:latin typeface="Calibri"/>
                <a:ea typeface="Calibri"/>
                <a:cs typeface="Calibri"/>
              </a:rPr>
              <a:t>פרויקט אוטומציה שחסך ללקוח 20 שעות בשבוע</a:t>
            </a:r>
          </a:p>
        </p:txBody>
      </p:sp>
      <p:sp>
        <p:nvSpPr>
          <p:cNvPr id="21" name="Rounded Rectangle 19"/>
          <p:cNvSpPr/>
          <p:nvPr/>
        </p:nvSpPr>
        <p:spPr>
          <a:xfrm>
            <a:off x="640080" y="1828800"/>
            <a:ext cx="3337560" cy="3657600"/>
          </a:xfrm>
          <a:prstGeom prst="roundRect">
            <a:avLst>
              <a:gd name="adj" fmla="val 2800"/>
            </a:avLst>
          </a:prstGeom>
          <a:solidFill>
            <a:srgbClr val="EEF1F7"/>
          </a:solidFill>
          <a:ln>
            <a:noFill/>
          </a:ln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2" name="Oval 20"/>
          <p:cNvSpPr/>
          <p:nvPr/>
        </p:nvSpPr>
        <p:spPr>
          <a:xfrm>
            <a:off x="3017520" y="2103120"/>
            <a:ext cx="685800" cy="685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1" descr="zap-1E2E5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1825" y="2257425"/>
            <a:ext cx="377190" cy="377190"/>
          </a:xfrm>
          <a:prstGeom prst="rect">
            <a:avLst/>
          </a:prstGeom>
        </p:spPr>
      </p:pic>
      <p:sp>
        <p:nvSpPr>
          <p:cNvPr id="24" name="TextBox 22"/>
          <p:cNvSpPr txBox="1"/>
          <p:nvPr/>
        </p:nvSpPr>
        <p:spPr>
          <a:xfrm>
            <a:off x="914400" y="2103120"/>
            <a:ext cx="2011680" cy="68580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l" indent="0" marL="0">
              <a:buNone/>
            </a:pPr>
            <a:r>
              <a:rPr lang="he-IL" sz="2600" b="1" dirty="0">
                <a:solidFill>
                  <a:srgbClr val="E04E3E"/>
                </a:solidFill>
                <a:latin typeface="Calibri"/>
                <a:ea typeface="Calibri"/>
                <a:cs typeface="Calibri"/>
              </a:rPr>
              <a:t>+35%</a:t>
            </a:r>
          </a:p>
        </p:txBody>
      </p:sp>
      <p:sp>
        <p:nvSpPr>
          <p:cNvPr id="25" name="TextBox 23"/>
          <p:cNvSpPr txBox="1"/>
          <p:nvPr/>
        </p:nvSpPr>
        <p:spPr>
          <a:xfrm>
            <a:off x="868680" y="3017520"/>
            <a:ext cx="2880360" cy="45720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r" indent="0" marL="0" rtl="1">
              <a:buNone/>
            </a:pPr>
            <a:r>
              <a:rPr lang="he-IL" sz="2000" b="1" dirty="0">
                <a:solidFill>
                  <a:srgbClr val="1B2233"/>
                </a:solidFill>
                <a:latin typeface="Calibri"/>
                <a:ea typeface="Calibri"/>
                <a:cs typeface="Calibri"/>
              </a:rPr>
              <a:t>שם הפרויקט</a:t>
            </a:r>
          </a:p>
        </p:txBody>
      </p:sp>
      <p:sp>
        <p:nvSpPr>
          <p:cNvPr id="26" name="TextBox 24"/>
          <p:cNvSpPr txBox="1"/>
          <p:nvPr/>
        </p:nvSpPr>
        <p:spPr>
          <a:xfrm>
            <a:off x="868680" y="3474720"/>
            <a:ext cx="2880360" cy="36576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r" indent="0" marL="0" rtl="1">
              <a:buNone/>
            </a:pPr>
            <a:r>
              <a:rPr lang="he-IL" sz="1300" b="1" dirty="0">
                <a:solidFill>
                  <a:srgbClr val="1E2E57"/>
                </a:solidFill>
                <a:latin typeface="Calibri"/>
                <a:ea typeface="Calibri"/>
                <a:cs typeface="Calibri"/>
              </a:rPr>
              <a:t>פרויקט פנימי</a:t>
            </a:r>
          </a:p>
        </p:txBody>
      </p:sp>
      <p:cxnSp>
        <p:nvCxnSpPr>
          <p:cNvPr id="27" name="Connector 25"/>
          <p:cNvCxnSpPr/>
          <p:nvPr/>
        </p:nvCxnSpPr>
        <p:spPr>
          <a:xfrm>
            <a:off x="960120" y="3977639"/>
            <a:ext cx="2697480" cy="0"/>
          </a:xfrm>
          <a:prstGeom prst="line">
            <a:avLst/>
          </a:prstGeom>
          <a:ln w="12700">
            <a:solidFill>
              <a:srgbClr val="D3D9E6"/>
            </a:solidFill>
          </a:ln>
        </p:spPr>
      </p:cxnSp>
      <p:sp>
        <p:nvSpPr>
          <p:cNvPr id="28" name="TextBox 26"/>
          <p:cNvSpPr txBox="1"/>
          <p:nvPr/>
        </p:nvSpPr>
        <p:spPr>
          <a:xfrm>
            <a:off x="868680" y="4114800"/>
            <a:ext cx="2880360" cy="1463040"/>
          </a:xfrm>
          <a:prstGeom prst="rect">
            <a:avLst/>
          </a:prstGeom>
          <a:noFill/>
        </p:spPr>
        <p:txBody>
          <a:bodyPr wrap="square" anchor="t" rtlCol="0">
            <a:spAutoFit/>
          </a:bodyPr>
          <a:lstStyle/>
          <a:p>
            <a:pPr algn="r" indent="0" marL="0" rtl="1">
              <a:lnSpc>
                <a:spcPct val="114999"/>
              </a:lnSpc>
              <a:buNone/>
            </a:pPr>
            <a:r>
              <a:rPr lang="he-IL" sz="1400" b="0" dirty="0">
                <a:solidFill>
                  <a:srgbClr val="6B7385"/>
                </a:solidFill>
                <a:latin typeface="Calibri"/>
                <a:ea typeface="Calibri"/>
                <a:cs typeface="Calibri"/>
              </a:rPr>
              <a:t>השקת ממשק לקוחות חדש — 1,200 משתמשים בחודש הראשון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8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Oval 1"/>
          <p:cNvSpPr/>
          <p:nvPr/>
        </p:nvSpPr>
        <p:spPr>
          <a:xfrm>
            <a:off x="9966960" y="-2011680"/>
            <a:ext cx="4206240" cy="4206240"/>
          </a:xfrm>
          <a:prstGeom prst="ellipse">
            <a:avLst/>
          </a:prstGeom>
          <a:solidFill>
            <a:srgbClr val="27396A">
              <a:alpha val="4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2"/>
          <p:cNvSpPr txBox="1"/>
          <p:nvPr/>
        </p:nvSpPr>
        <p:spPr>
          <a:xfrm>
            <a:off x="640080" y="457200"/>
            <a:ext cx="10908792" cy="73152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r" indent="0" marL="0" rtl="1">
              <a:buNone/>
            </a:pPr>
            <a:r>
              <a:rPr lang="he-IL" sz="32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יעדים לרבעון הבא</a:t>
            </a:r>
          </a:p>
        </p:txBody>
      </p:sp>
      <p:sp>
        <p:nvSpPr>
          <p:cNvPr id="5" name="TextBox 3"/>
          <p:cNvSpPr txBox="1"/>
          <p:nvPr/>
        </p:nvSpPr>
        <p:spPr>
          <a:xfrm>
            <a:off x="640080" y="1097280"/>
            <a:ext cx="10908792" cy="36576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r" indent="0" marL="0" rtl="1">
              <a:buNone/>
            </a:pPr>
            <a:r>
              <a:rPr lang="he-IL" sz="1400" b="0" dirty="0">
                <a:solidFill>
                  <a:srgbClr val="98A3C0"/>
                </a:solidFill>
                <a:latin typeface="Calibri"/>
                <a:ea typeface="Calibri"/>
                <a:cs typeface="Calibri"/>
              </a:rPr>
              <a:t>רבעון 4 · 2026 — מה אנחנו מתחייבים להשיג</a:t>
            </a:r>
          </a:p>
        </p:txBody>
      </p:sp>
      <p:sp>
        <p:nvSpPr>
          <p:cNvPr id="6" name="Rounded Rectangle 4"/>
          <p:cNvSpPr/>
          <p:nvPr/>
        </p:nvSpPr>
        <p:spPr>
          <a:xfrm>
            <a:off x="8942832" y="1828800"/>
            <a:ext cx="2606040" cy="3566160"/>
          </a:xfrm>
          <a:prstGeom prst="roundRect">
            <a:avLst>
              <a:gd name="adj" fmla="val 2800"/>
            </a:avLst>
          </a:prstGeom>
          <a:solidFill>
            <a:srgbClr val="1C2A4D"/>
          </a:solidFill>
          <a:ln w="12700">
            <a:solidFill>
              <a:srgbClr val="2C3D6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5"/>
          <p:cNvSpPr/>
          <p:nvPr/>
        </p:nvSpPr>
        <p:spPr>
          <a:xfrm>
            <a:off x="9953244" y="2103120"/>
            <a:ext cx="585216" cy="585216"/>
          </a:xfrm>
          <a:prstGeom prst="ellipse">
            <a:avLst/>
          </a:prstGeom>
          <a:solidFill>
            <a:srgbClr val="FF6F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6"/>
          <p:cNvSpPr txBox="1"/>
          <p:nvPr/>
        </p:nvSpPr>
        <p:spPr>
          <a:xfrm>
            <a:off x="9953244" y="2103120"/>
            <a:ext cx="585216" cy="585216"/>
          </a:xfrm>
          <a:prstGeom prst="rect">
            <a:avLst/>
          </a:prstGeom>
          <a:noFill/>
        </p:spPr>
        <p:txBody>
          <a:bodyPr wrap="square" anchor="ctr" rtlCol="0" lIns="0" rIns="0" tIns="0" bIns="0">
            <a:spAutoFit/>
          </a:bodyPr>
          <a:lstStyle/>
          <a:p>
            <a:pPr algn="ctr" indent="0" marL="0" rtl="1">
              <a:buNone/>
            </a:pPr>
            <a:r>
              <a:rPr lang="he-IL" sz="18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8942832" y="2880360"/>
            <a:ext cx="2606040" cy="77724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>
              <a:buNone/>
            </a:pPr>
            <a:r>
              <a:rPr lang="he-IL" sz="3400" b="1" dirty="0">
                <a:solidFill>
                  <a:srgbClr val="FF6F61"/>
                </a:solidFill>
                <a:latin typeface="Calibri"/>
                <a:ea typeface="Calibri"/>
                <a:cs typeface="Calibri"/>
              </a:rPr>
              <a:t>₪1.45M</a:t>
            </a:r>
          </a:p>
        </p:txBody>
      </p:sp>
      <p:sp>
        <p:nvSpPr>
          <p:cNvPr id="10" name="TextBox 8"/>
          <p:cNvSpPr txBox="1"/>
          <p:nvPr/>
        </p:nvSpPr>
        <p:spPr>
          <a:xfrm>
            <a:off x="8942832" y="3657600"/>
            <a:ext cx="2606040" cy="41148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 rtl="1">
              <a:buNone/>
            </a:pPr>
            <a:r>
              <a:rPr lang="he-IL" sz="17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הכנסות</a:t>
            </a:r>
          </a:p>
        </p:txBody>
      </p:sp>
      <p:sp>
        <p:nvSpPr>
          <p:cNvPr id="11" name="TextBox 9"/>
          <p:cNvSpPr txBox="1"/>
          <p:nvPr/>
        </p:nvSpPr>
        <p:spPr>
          <a:xfrm>
            <a:off x="9125711" y="4114800"/>
            <a:ext cx="2240280" cy="914400"/>
          </a:xfrm>
          <a:prstGeom prst="rect">
            <a:avLst/>
          </a:prstGeom>
          <a:noFill/>
        </p:spPr>
        <p:txBody>
          <a:bodyPr wrap="square" anchor="t" rtlCol="0">
            <a:spAutoFit/>
          </a:bodyPr>
          <a:lstStyle/>
          <a:p>
            <a:pPr algn="ctr" indent="0" marL="0" rtl="1">
              <a:lnSpc>
                <a:spcPct val="110000"/>
              </a:lnSpc>
              <a:buNone/>
            </a:pPr>
            <a:r>
              <a:rPr lang="he-IL" sz="1300" b="0" dirty="0">
                <a:solidFill>
                  <a:srgbClr val="D3DAEA"/>
                </a:solidFill>
                <a:latin typeface="Calibri"/>
                <a:ea typeface="Calibri"/>
                <a:cs typeface="Calibri"/>
              </a:rPr>
              <a:t>13% יותר מרבעון 3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6172200" y="1828800"/>
            <a:ext cx="2606040" cy="3566160"/>
          </a:xfrm>
          <a:prstGeom prst="roundRect">
            <a:avLst>
              <a:gd name="adj" fmla="val 2800"/>
            </a:avLst>
          </a:prstGeom>
          <a:solidFill>
            <a:srgbClr val="1C2A4D"/>
          </a:solidFill>
          <a:ln w="12700">
            <a:solidFill>
              <a:srgbClr val="2C3D6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1"/>
          <p:cNvSpPr/>
          <p:nvPr/>
        </p:nvSpPr>
        <p:spPr>
          <a:xfrm>
            <a:off x="7182612" y="2103120"/>
            <a:ext cx="585216" cy="585216"/>
          </a:xfrm>
          <a:prstGeom prst="ellipse">
            <a:avLst/>
          </a:prstGeom>
          <a:solidFill>
            <a:srgbClr val="FF6F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2"/>
          <p:cNvSpPr txBox="1"/>
          <p:nvPr/>
        </p:nvSpPr>
        <p:spPr>
          <a:xfrm>
            <a:off x="7182612" y="2103120"/>
            <a:ext cx="585216" cy="585216"/>
          </a:xfrm>
          <a:prstGeom prst="rect">
            <a:avLst/>
          </a:prstGeom>
          <a:noFill/>
        </p:spPr>
        <p:txBody>
          <a:bodyPr wrap="square" anchor="ctr" rtlCol="0" lIns="0" rIns="0" tIns="0" bIns="0">
            <a:spAutoFit/>
          </a:bodyPr>
          <a:lstStyle/>
          <a:p>
            <a:pPr algn="ctr" indent="0" marL="0" rtl="1">
              <a:buNone/>
            </a:pPr>
            <a:r>
              <a:rPr lang="he-IL" sz="18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Box 13"/>
          <p:cNvSpPr txBox="1"/>
          <p:nvPr/>
        </p:nvSpPr>
        <p:spPr>
          <a:xfrm>
            <a:off x="6172200" y="2880360"/>
            <a:ext cx="2606040" cy="77724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>
              <a:buNone/>
            </a:pPr>
            <a:r>
              <a:rPr lang="he-IL" sz="3400" b="1" dirty="0">
                <a:solidFill>
                  <a:srgbClr val="FF6F61"/>
                </a:solidFill>
                <a:latin typeface="Calibri"/>
                <a:ea typeface="Calibri"/>
                <a:cs typeface="Calibri"/>
              </a:rPr>
              <a:t>40</a:t>
            </a:r>
          </a:p>
        </p:txBody>
      </p:sp>
      <p:sp>
        <p:nvSpPr>
          <p:cNvPr id="16" name="TextBox 14"/>
          <p:cNvSpPr txBox="1"/>
          <p:nvPr/>
        </p:nvSpPr>
        <p:spPr>
          <a:xfrm>
            <a:off x="6172200" y="3657600"/>
            <a:ext cx="2606040" cy="41148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 rtl="1">
              <a:buNone/>
            </a:pPr>
            <a:r>
              <a:rPr lang="he-IL" sz="17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לקוחות חדשים</a:t>
            </a:r>
          </a:p>
        </p:txBody>
      </p:sp>
      <p:sp>
        <p:nvSpPr>
          <p:cNvPr id="17" name="TextBox 15"/>
          <p:cNvSpPr txBox="1"/>
          <p:nvPr/>
        </p:nvSpPr>
        <p:spPr>
          <a:xfrm>
            <a:off x="6355080" y="4114800"/>
            <a:ext cx="2240280" cy="914400"/>
          </a:xfrm>
          <a:prstGeom prst="rect">
            <a:avLst/>
          </a:prstGeom>
          <a:noFill/>
        </p:spPr>
        <p:txBody>
          <a:bodyPr wrap="square" anchor="t" rtlCol="0">
            <a:spAutoFit/>
          </a:bodyPr>
          <a:lstStyle/>
          <a:p>
            <a:pPr algn="ctr" indent="0" marL="0" rtl="1">
              <a:lnSpc>
                <a:spcPct val="110000"/>
              </a:lnSpc>
              <a:buNone/>
            </a:pPr>
            <a:r>
              <a:rPr lang="he-IL" sz="1300" b="0" dirty="0">
                <a:solidFill>
                  <a:srgbClr val="D3DAEA"/>
                </a:solidFill>
                <a:latin typeface="Calibri"/>
                <a:ea typeface="Calibri"/>
                <a:cs typeface="Calibri"/>
              </a:rPr>
              <a:t>בעזרת שני ערוצי גיוס חדשים</a:t>
            </a:r>
          </a:p>
        </p:txBody>
      </p:sp>
      <p:sp>
        <p:nvSpPr>
          <p:cNvPr id="18" name="Rounded Rectangle 16"/>
          <p:cNvSpPr/>
          <p:nvPr/>
        </p:nvSpPr>
        <p:spPr>
          <a:xfrm>
            <a:off x="3401568" y="1828800"/>
            <a:ext cx="2606040" cy="3566160"/>
          </a:xfrm>
          <a:prstGeom prst="roundRect">
            <a:avLst>
              <a:gd name="adj" fmla="val 2800"/>
            </a:avLst>
          </a:prstGeom>
          <a:solidFill>
            <a:srgbClr val="1C2A4D"/>
          </a:solidFill>
          <a:ln w="12700">
            <a:solidFill>
              <a:srgbClr val="2C3D6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7"/>
          <p:cNvSpPr/>
          <p:nvPr/>
        </p:nvSpPr>
        <p:spPr>
          <a:xfrm>
            <a:off x="4411979" y="2103120"/>
            <a:ext cx="585216" cy="585216"/>
          </a:xfrm>
          <a:prstGeom prst="ellipse">
            <a:avLst/>
          </a:prstGeom>
          <a:solidFill>
            <a:srgbClr val="FF6F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8"/>
          <p:cNvSpPr txBox="1"/>
          <p:nvPr/>
        </p:nvSpPr>
        <p:spPr>
          <a:xfrm>
            <a:off x="4411979" y="2103120"/>
            <a:ext cx="585216" cy="585216"/>
          </a:xfrm>
          <a:prstGeom prst="rect">
            <a:avLst/>
          </a:prstGeom>
          <a:noFill/>
        </p:spPr>
        <p:txBody>
          <a:bodyPr wrap="square" anchor="ctr" rtlCol="0" lIns="0" rIns="0" tIns="0" bIns="0">
            <a:spAutoFit/>
          </a:bodyPr>
          <a:lstStyle/>
          <a:p>
            <a:pPr algn="ctr" indent="0" marL="0" rtl="1">
              <a:buNone/>
            </a:pPr>
            <a:r>
              <a:rPr lang="he-IL" sz="18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1" name="TextBox 19"/>
          <p:cNvSpPr txBox="1"/>
          <p:nvPr/>
        </p:nvSpPr>
        <p:spPr>
          <a:xfrm>
            <a:off x="3401568" y="2880360"/>
            <a:ext cx="2606040" cy="77724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>
              <a:buNone/>
            </a:pPr>
            <a:r>
              <a:rPr lang="he-IL" sz="3400" b="1" dirty="0">
                <a:solidFill>
                  <a:srgbClr val="FF6F61"/>
                </a:solidFill>
                <a:latin typeface="Calibri"/>
                <a:ea typeface="Calibri"/>
                <a:cs typeface="Calibri"/>
              </a:rPr>
              <a:t>95%</a:t>
            </a:r>
          </a:p>
        </p:txBody>
      </p:sp>
      <p:sp>
        <p:nvSpPr>
          <p:cNvPr id="22" name="TextBox 20"/>
          <p:cNvSpPr txBox="1"/>
          <p:nvPr/>
        </p:nvSpPr>
        <p:spPr>
          <a:xfrm>
            <a:off x="3401568" y="3657600"/>
            <a:ext cx="2606040" cy="41148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 rtl="1">
              <a:buNone/>
            </a:pPr>
            <a:r>
              <a:rPr lang="he-IL" sz="17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שימור לקוחות</a:t>
            </a:r>
          </a:p>
        </p:txBody>
      </p:sp>
      <p:sp>
        <p:nvSpPr>
          <p:cNvPr id="23" name="TextBox 21"/>
          <p:cNvSpPr txBox="1"/>
          <p:nvPr/>
        </p:nvSpPr>
        <p:spPr>
          <a:xfrm>
            <a:off x="3584448" y="4114800"/>
            <a:ext cx="2240280" cy="914400"/>
          </a:xfrm>
          <a:prstGeom prst="rect">
            <a:avLst/>
          </a:prstGeom>
          <a:noFill/>
        </p:spPr>
        <p:txBody>
          <a:bodyPr wrap="square" anchor="t" rtlCol="0">
            <a:spAutoFit/>
          </a:bodyPr>
          <a:lstStyle/>
          <a:p>
            <a:pPr algn="ctr" indent="0" marL="0" rtl="1">
              <a:lnSpc>
                <a:spcPct val="110000"/>
              </a:lnSpc>
              <a:buNone/>
            </a:pPr>
            <a:r>
              <a:rPr lang="he-IL" sz="1300" b="0" dirty="0">
                <a:solidFill>
                  <a:srgbClr val="D3DAEA"/>
                </a:solidFill>
                <a:latin typeface="Calibri"/>
                <a:ea typeface="Calibri"/>
                <a:cs typeface="Calibri"/>
              </a:rPr>
              <a:t>תוכנית ליווי ללקוחות חדשים</a:t>
            </a:r>
          </a:p>
        </p:txBody>
      </p:sp>
      <p:sp>
        <p:nvSpPr>
          <p:cNvPr id="24" name="Rounded Rectangle 22"/>
          <p:cNvSpPr/>
          <p:nvPr/>
        </p:nvSpPr>
        <p:spPr>
          <a:xfrm>
            <a:off x="630935" y="1828800"/>
            <a:ext cx="2606040" cy="3566160"/>
          </a:xfrm>
          <a:prstGeom prst="roundRect">
            <a:avLst>
              <a:gd name="adj" fmla="val 2800"/>
            </a:avLst>
          </a:prstGeom>
          <a:solidFill>
            <a:srgbClr val="1C2A4D"/>
          </a:solidFill>
          <a:ln w="12700">
            <a:solidFill>
              <a:srgbClr val="2C3D6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3"/>
          <p:cNvSpPr/>
          <p:nvPr/>
        </p:nvSpPr>
        <p:spPr>
          <a:xfrm>
            <a:off x="1641347" y="2103120"/>
            <a:ext cx="585216" cy="585216"/>
          </a:xfrm>
          <a:prstGeom prst="ellipse">
            <a:avLst/>
          </a:prstGeom>
          <a:solidFill>
            <a:srgbClr val="FF6F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4"/>
          <p:cNvSpPr txBox="1"/>
          <p:nvPr/>
        </p:nvSpPr>
        <p:spPr>
          <a:xfrm>
            <a:off x="1641347" y="2103120"/>
            <a:ext cx="585216" cy="585216"/>
          </a:xfrm>
          <a:prstGeom prst="rect">
            <a:avLst/>
          </a:prstGeom>
          <a:noFill/>
        </p:spPr>
        <p:txBody>
          <a:bodyPr wrap="square" anchor="ctr" rtlCol="0" lIns="0" rIns="0" tIns="0" bIns="0">
            <a:spAutoFit/>
          </a:bodyPr>
          <a:lstStyle/>
          <a:p>
            <a:pPr algn="ctr" indent="0" marL="0" rtl="1">
              <a:buNone/>
            </a:pPr>
            <a:r>
              <a:rPr lang="he-IL" sz="18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7" name="TextBox 25"/>
          <p:cNvSpPr txBox="1"/>
          <p:nvPr/>
        </p:nvSpPr>
        <p:spPr>
          <a:xfrm>
            <a:off x="630935" y="2880360"/>
            <a:ext cx="2606040" cy="77724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 rtl="1">
              <a:buNone/>
            </a:pPr>
            <a:r>
              <a:rPr lang="he-IL" sz="3400" b="1" dirty="0">
                <a:solidFill>
                  <a:srgbClr val="FF6F61"/>
                </a:solidFill>
                <a:latin typeface="Calibri"/>
                <a:ea typeface="Calibri"/>
                <a:cs typeface="Calibri"/>
              </a:rPr>
              <a:t>3 ימים</a:t>
            </a:r>
          </a:p>
        </p:txBody>
      </p:sp>
      <p:sp>
        <p:nvSpPr>
          <p:cNvPr id="28" name="TextBox 26"/>
          <p:cNvSpPr txBox="1"/>
          <p:nvPr/>
        </p:nvSpPr>
        <p:spPr>
          <a:xfrm>
            <a:off x="630935" y="3657600"/>
            <a:ext cx="2606040" cy="41148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 rtl="1">
              <a:buNone/>
            </a:pPr>
            <a:r>
              <a:rPr lang="he-IL" sz="17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זמן הטמעה</a:t>
            </a:r>
          </a:p>
        </p:txBody>
      </p:sp>
      <p:sp>
        <p:nvSpPr>
          <p:cNvPr id="29" name="TextBox 27"/>
          <p:cNvSpPr txBox="1"/>
          <p:nvPr/>
        </p:nvSpPr>
        <p:spPr>
          <a:xfrm>
            <a:off x="813815" y="4114800"/>
            <a:ext cx="2240280" cy="914400"/>
          </a:xfrm>
          <a:prstGeom prst="rect">
            <a:avLst/>
          </a:prstGeom>
          <a:noFill/>
        </p:spPr>
        <p:txBody>
          <a:bodyPr wrap="square" anchor="t" rtlCol="0">
            <a:spAutoFit/>
          </a:bodyPr>
          <a:lstStyle/>
          <a:p>
            <a:pPr algn="ctr" indent="0" marL="0" rtl="1">
              <a:lnSpc>
                <a:spcPct val="110000"/>
              </a:lnSpc>
              <a:buNone/>
            </a:pPr>
            <a:r>
              <a:rPr lang="he-IL" sz="1300" b="0" dirty="0">
                <a:solidFill>
                  <a:srgbClr val="D3DAEA"/>
                </a:solidFill>
                <a:latin typeface="Calibri"/>
                <a:ea typeface="Calibri"/>
                <a:cs typeface="Calibri"/>
              </a:rPr>
              <a:t>במקום שבוע היום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8"/>
        </a:solidFill>
        <a:effectLst/>
      </p:bgPr>
    </p:bg>
    <p:spTree>
      <p:nvGrpSpPr>
        <p:cNvPr id="2" name=""/>
        <p:cNvGrpSpPr/>
        <p:nvPr/>
      </p:nvGrpSpPr>
      <p:grpSpPr/>
      <p:sp>
        <p:nvSpPr>
          <p:cNvPr id="3" name="Oval 1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27396A">
              <a:alpha val="6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2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27396A">
              <a:alpha val="4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3"/>
          <p:cNvSpPr txBox="1"/>
          <p:nvPr/>
        </p:nvSpPr>
        <p:spPr>
          <a:xfrm>
            <a:off x="914400" y="1280160"/>
            <a:ext cx="10360152" cy="82296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 rtl="1">
              <a:buNone/>
            </a:pPr>
            <a:r>
              <a:rPr lang="he-IL" sz="4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תודה!</a:t>
            </a:r>
          </a:p>
        </p:txBody>
      </p:sp>
      <p:sp>
        <p:nvSpPr>
          <p:cNvPr id="6" name="TextBox 4"/>
          <p:cNvSpPr txBox="1"/>
          <p:nvPr/>
        </p:nvSpPr>
        <p:spPr>
          <a:xfrm>
            <a:off x="914400" y="2103120"/>
            <a:ext cx="10360152" cy="45720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 rtl="1">
              <a:buNone/>
            </a:pPr>
            <a:r>
              <a:rPr lang="he-IL" sz="1600" b="0" dirty="0">
                <a:solidFill>
                  <a:srgbClr val="D3DAEA"/>
                </a:solidFill>
                <a:latin typeface="Calibri"/>
                <a:ea typeface="Calibri"/>
                <a:cs typeface="Calibri"/>
              </a:rPr>
              <a:t>שאלות, הערות ורעיונות לרבעון הבא — נשמח לשמוע</a:t>
            </a:r>
          </a:p>
        </p:txBody>
      </p:sp>
      <p:sp>
        <p:nvSpPr>
          <p:cNvPr id="7" name="Oval 5"/>
          <p:cNvSpPr/>
          <p:nvPr/>
        </p:nvSpPr>
        <p:spPr>
          <a:xfrm>
            <a:off x="9025128" y="3566160"/>
            <a:ext cx="731520" cy="731520"/>
          </a:xfrm>
          <a:prstGeom prst="ellipse">
            <a:avLst/>
          </a:prstGeom>
          <a:solidFill>
            <a:srgbClr val="2434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6" descr="users-FF6F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8007" y="3749039"/>
            <a:ext cx="365760" cy="365760"/>
          </a:xfrm>
          <a:prstGeom prst="rect">
            <a:avLst/>
          </a:prstGeom>
        </p:spPr>
      </p:pic>
      <p:sp>
        <p:nvSpPr>
          <p:cNvPr id="9" name="TextBox 7"/>
          <p:cNvSpPr txBox="1"/>
          <p:nvPr/>
        </p:nvSpPr>
        <p:spPr>
          <a:xfrm>
            <a:off x="7927848" y="4434840"/>
            <a:ext cx="2926080" cy="36576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 rtl="1">
              <a:buNone/>
            </a:pPr>
            <a:r>
              <a:rPr lang="he-IL" sz="1400" b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שם המציג/ה ותפקיד</a:t>
            </a:r>
          </a:p>
        </p:txBody>
      </p:sp>
      <p:sp>
        <p:nvSpPr>
          <p:cNvPr id="10" name="Oval 8"/>
          <p:cNvSpPr/>
          <p:nvPr/>
        </p:nvSpPr>
        <p:spPr>
          <a:xfrm>
            <a:off x="5733288" y="3566160"/>
            <a:ext cx="731520" cy="731520"/>
          </a:xfrm>
          <a:prstGeom prst="ellipse">
            <a:avLst/>
          </a:prstGeom>
          <a:solidFill>
            <a:srgbClr val="2434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9" descr="mail-FF6F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168" y="3749039"/>
            <a:ext cx="365760" cy="365760"/>
          </a:xfrm>
          <a:prstGeom prst="rect">
            <a:avLst/>
          </a:prstGeom>
        </p:spPr>
      </p:pic>
      <p:sp>
        <p:nvSpPr>
          <p:cNvPr id="12" name="TextBox 10"/>
          <p:cNvSpPr txBox="1"/>
          <p:nvPr/>
        </p:nvSpPr>
        <p:spPr>
          <a:xfrm>
            <a:off x="4636008" y="4434840"/>
            <a:ext cx="2926080" cy="36576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>
              <a:buNone/>
            </a:pPr>
            <a:r>
              <a:rPr lang="he-IL" sz="1400" b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name@yourcompany.co.il</a:t>
            </a:r>
          </a:p>
        </p:txBody>
      </p:sp>
      <p:sp>
        <p:nvSpPr>
          <p:cNvPr id="13" name="Oval 11"/>
          <p:cNvSpPr/>
          <p:nvPr/>
        </p:nvSpPr>
        <p:spPr>
          <a:xfrm>
            <a:off x="2441447" y="3566160"/>
            <a:ext cx="731520" cy="731520"/>
          </a:xfrm>
          <a:prstGeom prst="ellipse">
            <a:avLst/>
          </a:prstGeom>
          <a:solidFill>
            <a:srgbClr val="2434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2" descr="phone-FF6F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327" y="3749039"/>
            <a:ext cx="365760" cy="365760"/>
          </a:xfrm>
          <a:prstGeom prst="rect">
            <a:avLst/>
          </a:prstGeom>
        </p:spPr>
      </p:pic>
      <p:sp>
        <p:nvSpPr>
          <p:cNvPr id="15" name="TextBox 13"/>
          <p:cNvSpPr txBox="1"/>
          <p:nvPr/>
        </p:nvSpPr>
        <p:spPr>
          <a:xfrm>
            <a:off x="1344167" y="4434840"/>
            <a:ext cx="2926080" cy="365760"/>
          </a:xfrm>
          <a:prstGeom prst="rect">
            <a:avLst/>
          </a:prstGeom>
          <a:noFill/>
        </p:spPr>
        <p:txBody>
          <a:bodyPr wrap="square" anchor="ctr" rtlCol="0">
            <a:spAutoFit/>
          </a:bodyPr>
          <a:lstStyle/>
          <a:p>
            <a:pPr algn="ctr" indent="0" marL="0">
              <a:buNone/>
            </a:pPr>
            <a:r>
              <a:rPr lang="he-IL" sz="1400" b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050-1234567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